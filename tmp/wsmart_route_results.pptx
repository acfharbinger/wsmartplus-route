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0_0.xml" ContentType="application/vnd.ms-powerpoint.comments+xml"/>
  <Override PartName="/ppt/comments/modernComment_101_0.xml" ContentType="application/vnd.ms-powerpoint.comments+xml"/>
  <Override PartName="/ppt/notesSlides/notesSlide1.xml" ContentType="application/vnd.openxmlformats-officedocument.presentationml.notesSlide+xml"/>
  <Override PartName="/ppt/comments/modernComment_102_0.xml" ContentType="application/vnd.ms-powerpoint.comments+xml"/>
  <Override PartName="/ppt/comments/modernComment_113_A3CD8400.xml" ContentType="application/vnd.ms-powerpoint.comments+xml"/>
  <Override PartName="/ppt/comments/modernComment_115_A6174617.xml" ContentType="application/vnd.ms-powerpoint.comments+xml"/>
  <Override PartName="/ppt/comments/modernComment_104_0.xml" ContentType="application/vnd.ms-powerpoint.comments+xml"/>
  <Override PartName="/ppt/comments/modernComment_105_0.xml" ContentType="application/vnd.ms-powerpoint.comments+xml"/>
  <Override PartName="/ppt/comments/modernComment_106_0.xml" ContentType="application/vnd.ms-powerpoint.comments+xml"/>
  <Override PartName="/ppt/comments/modernComment_10A_0.xml" ContentType="application/vnd.ms-powerpoint.comments+xml"/>
  <Override PartName="/ppt/comments/modernComment_117_315BBE8C.xml" ContentType="application/vnd.ms-powerpoint.comments+xml"/>
  <Override PartName="/ppt/comments/modernComment_10B_0.xml" ContentType="application/vnd.ms-powerpoint.comments+xml"/>
  <Override PartName="/ppt/comments/modernComment_10C_0.xml" ContentType="application/vnd.ms-powerpoint.comments+xml"/>
  <Override PartName="/ppt/comments/modernComment_116_F189404E.xml" ContentType="application/vnd.ms-powerpoint.comments+xml"/>
  <Override PartName="/ppt/comments/modernComment_10D_0.xml" ContentType="application/vnd.ms-powerpoint.comments+xml"/>
  <Override PartName="/ppt/comments/modernComment_10E_0.xml" ContentType="application/vnd.ms-powerpoint.comments+xml"/>
  <Override PartName="/ppt/comments/modernComment_10F_0.xml" ContentType="application/vnd.ms-powerpoint.comments+xml"/>
  <Override PartName="/ppt/comments/modernComment_110_0.xml" ContentType="application/vnd.ms-powerpoint.comments+xml"/>
  <Override PartName="/ppt/comments/modernComment_111_0.xml" ContentType="application/vnd.ms-powerpoint.comments+xml"/>
  <Override PartName="/ppt/comments/modernComment_112_0.xml" ContentType="application/vnd.ms-powerpoint.comments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75" r:id="rId5"/>
    <p:sldId id="259" r:id="rId6"/>
    <p:sldId id="277" r:id="rId7"/>
    <p:sldId id="260" r:id="rId8"/>
    <p:sldId id="261" r:id="rId9"/>
    <p:sldId id="262" r:id="rId10"/>
    <p:sldId id="266" r:id="rId11"/>
    <p:sldId id="279" r:id="rId12"/>
    <p:sldId id="267" r:id="rId13"/>
    <p:sldId id="268" r:id="rId14"/>
    <p:sldId id="27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AF4B5C-185C-2230-85AD-8CDE7A2E9EB7}" name="Tânia Ramos" initials="TR" userId="S::ist46496@tecnico.ulisboa.pt::8ee80547-3bb5-42b4-8a8d-20cd2151f31c" providerId="AD"/>
  <p188:author id="{DB41FB95-DA09-465E-7A18-3355C689E921}" name="Pedro Alexandre Simões dos Santos" initials="PS" userId="S::ist12886@tecnico.ulisboa.pt::8bc9f119-ec2c-4c38-8f1f-bc68b49ee4d7" providerId="AD"/>
  <p188:author id="{86AEF6EC-261E-6E1E-54B8-F3B4555E2360}" name="Afonso Cruz Bandeira Fernandes" initials="AF" userId="S::ist193679@tecnico.ulisboa.pt::1c31ff24-9977-4dcb-946f-ff13899c01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C186C9-FF06-1E48-3AC0-9D461D00807A}" v="19" dt="2026-07-09T21:58:24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comments/modernComment_10A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C510FA4-7E4F-4189-96B7-73FDF086298F}" authorId="{86AEF6EC-261E-6E1E-54B8-F3B4555E2360}" created="2026-07-07T19:04:29.970">
    <pc:sldMkLst xmlns:pc="http://schemas.microsoft.com/office/powerpoint/2013/main/command">
      <pc:docMk/>
      <pc:sldMk cId="0" sldId="266"/>
    </pc:sldMkLst>
    <p188:txBody>
      <a:bodyPr/>
      <a:lstStyle/>
      <a:p>
        <a:r>
          <a:rPr lang="en-US"/>
          <a:t>Adicionar figura</a:t>
        </a:r>
      </a:p>
    </p188:txBody>
  </p188:cm>
</p188:cmLst>
</file>

<file path=ppt/comments/modernComment_10B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9DD25D7-2E47-4523-93D0-481BDAC0B85C}" authorId="{86AEF6EC-261E-6E1E-54B8-F3B4555E2360}" created="2026-07-07T18:45:31.7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7"/>
      <ac:picMk id="3" creationId="{00000000-0000-0000-0000-000000000000}"/>
    </ac:deMkLst>
    <p188:txBody>
      <a:bodyPr/>
      <a:lstStyle/>
      <a:p>
        <a:r>
          <a:rPr lang="en-US"/>
          <a:t>Aumentar as legendas da figura</a:t>
        </a:r>
      </a:p>
    </p188:txBody>
  </p188:cm>
</p188:cmLst>
</file>

<file path=ppt/comments/modernComment_10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AE7AE56-098D-4D53-8F50-A07D73EDA16A}" authorId="{86AEF6EC-261E-6E1E-54B8-F3B4555E2360}" created="2026-07-07T18:45:44.3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8"/>
      <ac:picMk id="3" creationId="{00000000-0000-0000-0000-000000000000}"/>
    </ac:deMkLst>
    <p188:txBody>
      <a:bodyPr/>
      <a:lstStyle/>
      <a:p>
        <a:r>
          <a:rPr lang="en-US"/>
          <a:t>Aumentar as legendas da figuras</a:t>
        </a:r>
      </a:p>
    </p188:txBody>
  </p188:cm>
</p188:cmLst>
</file>

<file path=ppt/comments/modernComment_10D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5ED37C7-7526-4628-9420-58363E9F58B0}" authorId="{86AEF6EC-261E-6E1E-54B8-F3B4555E2360}" created="2026-07-07T18:48:33.04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9"/>
      <ac:picMk id="3" creationId="{00000000-0000-0000-0000-000000000000}"/>
    </ac:deMkLst>
    <p188:txBody>
      <a:bodyPr/>
      <a:lstStyle/>
      <a:p>
        <a:r>
          <a:rPr lang="en-US"/>
          <a:t>Colocar legenda em tamanho grande ao lado</a:t>
        </a:r>
      </a:p>
    </p188:txBody>
  </p188:cm>
</p188:cmLst>
</file>

<file path=ppt/comments/modernComment_10E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E7B2D6-C436-4572-9248-F81C9C80CD01}" authorId="{86AEF6EC-261E-6E1E-54B8-F3B4555E2360}" created="2026-07-07T19:03:00.52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0"/>
      <ac:picMk id="4" creationId="{00000000-0000-0000-0000-000000000000}"/>
    </ac:deMkLst>
    <p188:txBody>
      <a:bodyPr/>
      <a:lstStyle/>
      <a:p>
        <a:r>
          <a:rPr lang="en-US"/>
          <a:t>Aumentar (bastante) as legenda das figuras</a:t>
        </a:r>
      </a:p>
    </p188:txBody>
  </p188:cm>
</p188:cmLst>
</file>

<file path=ppt/comments/modernComment_10F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461F56B-D232-4204-BEC9-00D3C096A245}" authorId="{86AEF6EC-261E-6E1E-54B8-F3B4555E2360}" created="2026-07-07T18:49:46.61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1"/>
      <ac:picMk id="3" creationId="{00000000-0000-0000-0000-000000000000}"/>
    </ac:deMkLst>
    <p188:txBody>
      <a:bodyPr/>
      <a:lstStyle/>
      <a:p>
        <a:r>
          <a:rPr lang="en-US"/>
          <a:t>Aumentar (bastante) as legenda das figuras</a:t>
        </a:r>
      </a:p>
    </p188:txBody>
  </p188:cm>
</p188:cmLst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9D8B0A5-4163-4F07-8617-56F32775DA0D}" authorId="{AAAF4B5C-185C-2230-85AD-8CDE7A2E9EB7}" created="2026-07-09T21:58:24.337">
    <pc:sldMkLst xmlns:pc="http://schemas.microsoft.com/office/powerpoint/2013/main/command">
      <pc:docMk/>
      <pc:sldMk cId="0" sldId="256"/>
    </pc:sldMkLst>
    <p188:txBody>
      <a:bodyPr/>
      <a:lstStyle/>
      <a:p>
        <a:r>
          <a:rPr lang="en-US"/>
          <a:t>Tens de colocar o titulo igual ao que está no Abstract, todos os nomes dos autores e as respecttivas afiliações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E7BC2EE-8A07-4B24-9CE5-A54EB35D9D4D}" authorId="{86AEF6EC-261E-6E1E-54B8-F3B4555E2360}" created="2026-07-07T17:42:49.39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7"/>
      <ac:spMk id="2" creationId="{00000000-0000-0000-0000-000000000000}"/>
    </ac:deMkLst>
    <p188:txBody>
      <a:bodyPr/>
      <a:lstStyle/>
      <a:p>
        <a:r>
          <a:rPr lang="en-US"/>
          <a:t>Fazer o slide index/agenda menos granular (e.g., Intro, Explanation of the Mandatory Selection Strategies, the Route Constructors, and the Route improvers, Results, Conclusion)</a:t>
        </a:r>
      </a:p>
    </p188:txBody>
  </p188:cm>
</p188:cmLst>
</file>

<file path=ppt/comments/modernComment_102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E0F1742-A736-4A38-9C91-A8B23BB70A1C}" authorId="{86AEF6EC-261E-6E1E-54B8-F3B4555E2360}" created="2026-07-07T17:45:12.80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8"/>
      <ac:picMk id="4" creationId="{00000000-0000-0000-0000-000000000000}"/>
    </ac:deMkLst>
    <p188:txBody>
      <a:bodyPr/>
      <a:lstStyle/>
      <a:p>
        <a:r>
          <a:rPr lang="en-US"/>
          <a:t>Recriar equacoes LaTeX com um add-in de forma a serem editaveis</a:t>
        </a:r>
      </a:p>
    </p188:txBody>
  </p188:cm>
</p188:cmLst>
</file>

<file path=ppt/comments/modernComment_104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B6C4A5C-D95E-419C-BE8B-498C5634A702}" authorId="{86AEF6EC-261E-6E1E-54B8-F3B4555E2360}" created="2026-07-07T17:43:5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0"/>
      <ac:picMk id="4" creationId="{00000000-0000-0000-0000-000000000000}"/>
    </ac:deMkLst>
    <p188:txBody>
      <a:bodyPr/>
      <a:lstStyle/>
      <a:p>
        <a:r>
          <a:rPr lang="en-US"/>
          <a:t>Alinhar as strats do Slide 7 a primeira letra na imagem e colocar o nome por extenso mais o acronimo entre parentesis [e.g., Look-Ahead (LA)]</a:t>
        </a:r>
      </a:p>
    </p188:txBody>
  </p188:cm>
</p188:cmLst>
</file>

<file path=ppt/comments/modernComment_105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B7060C2-0273-4EC9-B38F-DFD456B36168}" authorId="{86AEF6EC-261E-6E1E-54B8-F3B4555E2360}" created="2026-07-07T17:44:13.9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1"/>
      <ac:spMk id="2" creationId="{00000000-0000-0000-0000-000000000000}"/>
    </ac:deMkLst>
    <p188:txBody>
      <a:bodyPr/>
      <a:lstStyle/>
      <a:p>
        <a:r>
          <a:rPr lang="en-US"/>
          <a:t>Alterar em todo o lado o nome "Exact Solvers" para "Exact Methods"</a:t>
        </a:r>
      </a:p>
    </p188:txBody>
  </p188:cm>
  <p188:cm id="{69F037C7-AE99-4AE0-960F-1A6329106E57}" authorId="{86AEF6EC-261E-6E1E-54B8-F3B4555E2360}" created="2026-07-07T19:04:54.268">
    <pc:sldMkLst xmlns:pc="http://schemas.microsoft.com/office/powerpoint/2013/main/command">
      <pc:docMk/>
      <pc:sldMk cId="0" sldId="261"/>
    </pc:sldMkLst>
    <p188:txBody>
      <a:bodyPr/>
      <a:lstStyle/>
      <a:p>
        <a:r>
          <a:rPr lang="en-US"/>
          <a:t>Adicionar figura</a:t>
        </a:r>
      </a:p>
    </p188:txBody>
  </p188:cm>
</p188:cmLst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62328A-4BED-469B-97BC-388938BCE9FF}" authorId="{86AEF6EC-261E-6E1E-54B8-F3B4555E2360}" created="2026-07-07T17:44:55.761">
    <pc:sldMkLst xmlns:pc="http://schemas.microsoft.com/office/powerpoint/2013/main/command">
      <pc:docMk/>
      <pc:sldMk cId="0" sldId="262"/>
    </pc:sldMkLst>
    <p188:txBody>
      <a:bodyPr/>
      <a:lstStyle/>
      <a:p>
        <a:r>
          <a:rPr lang="en-US"/>
          <a:t>Comprimir os slides sobre as varias familias de algoritmos heuristicos (Meta-Heuristics vs Hyper-Heuristics, Evolutionary, Trajectory-based, e Swarm Intelligence) em apenas 1 slide que descreva por alto todos os algoritmos heuristicos (slides 8 a 11)</a:t>
        </a:r>
      </a:p>
    </p188:txBody>
  </p188:cm>
</p188:cmLst>
</file>

<file path=ppt/comments/modernComment_11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44639E6-63C7-4B98-9D5C-77676BC432F7}" authorId="{DB41FB95-DA09-465E-7A18-3355C689E921}" created="2026-07-07T17:50:51.34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2"/>
      <ac:picMk id="4" creationId="{00000000-0000-0000-0000-000000000000}"/>
    </ac:deMkLst>
    <p188:txBody>
      <a:bodyPr/>
      <a:lstStyle/>
      <a:p>
        <a:r>
          <a:rPr lang="en-US"/>
          <a:t>Letra muito pequena. se de facto os dados são interessantes, fazer uma seleção....</a:t>
        </a:r>
      </a:p>
    </p188:txBody>
  </p188:cm>
  <p188:cm id="{8B8493D1-853D-45BF-8A87-34FB3DF30009}" authorId="{86AEF6EC-261E-6E1E-54B8-F3B4555E2360}" created="2026-07-07T18:57:01.7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2"/>
      <ac:picMk id="4" creationId="{00000000-0000-0000-0000-000000000000}"/>
    </ac:deMkLst>
    <p188:txBody>
      <a:bodyPr/>
      <a:lstStyle/>
      <a:p>
        <a:r>
          <a:rPr lang="en-US"/>
          <a:t>Nao repetir o ov e kg/km, indicar apenas uma vez (e.g. na caption) que o overflows sao os de cima e os de baixo os kg/km (colocar a bold/verde os melhores also)</a:t>
        </a:r>
      </a:p>
    </p188:txBody>
  </p188:cm>
</p188:cmLst>
</file>

<file path=ppt/comments/modernComment_11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0D44C74-2536-4A77-BD97-C334FE03794C}" authorId="{DB41FB95-DA09-465E-7A18-3355C689E921}" created="2026-07-07T17:59:50.6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3"/>
      <ac:picMk id="3" creationId="{00000000-0000-0000-0000-000000000000}"/>
    </ac:deMkLst>
    <p188:txBody>
      <a:bodyPr/>
      <a:lstStyle/>
      <a:p>
        <a:r>
          <a:rPr lang="en-US"/>
          <a:t>Letra maior...</a:t>
        </a:r>
      </a:p>
    </p188:txBody>
  </p188:cm>
  <p188:cm id="{1A5B4BD5-B04E-49E6-9B00-F1BCB0557F5C}" authorId="{86AEF6EC-261E-6E1E-54B8-F3B4555E2360}" created="2026-07-07T18:56:42.1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3"/>
      <ac:picMk id="3" creationId="{00000000-0000-0000-0000-000000000000}"/>
    </ac:deMkLst>
    <p188:txBody>
      <a:bodyPr/>
      <a:lstStyle/>
      <a:p>
        <a:r>
          <a:rPr lang="en-US"/>
          <a:t>Aumentar a gap entre a legenda dos km (fewer) e overflows (fewer) e o grafico em si</a:t>
        </a:r>
      </a:p>
    </p188:txBody>
  </p188:cm>
</p188:cmLst>
</file>

<file path=ppt/comments/modernComment_112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7EDE400-8DA0-4F85-900C-4128B0F0CF2E}" authorId="{86AEF6EC-261E-6E1E-54B8-F3B4555E2360}" created="2026-07-07T19:03:49.359">
    <pc:sldMkLst xmlns:pc="http://schemas.microsoft.com/office/powerpoint/2013/main/command">
      <pc:docMk/>
      <pc:sldMk cId="0" sldId="274"/>
    </pc:sldMkLst>
    <p188:txBody>
      <a:bodyPr/>
      <a:lstStyle/>
      <a:p>
        <a:r>
          <a:rPr lang="en-US"/>
          <a:t>Adicionar figura ao slide final</a:t>
        </a:r>
      </a:p>
    </p188:txBody>
  </p188:cm>
</p188:cmLst>
</file>

<file path=ppt/comments/modernComment_113_A3CD84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F6E6B94-BEB8-4ABB-B23C-1989B072F70E}" authorId="{86AEF6EC-261E-6E1E-54B8-F3B4555E2360}" created="2026-07-07T17:44:43.151">
    <pc:sldMkLst xmlns:pc="http://schemas.microsoft.com/office/powerpoint/2013/main/command">
      <pc:docMk/>
      <pc:sldMk cId="2748154880" sldId="275"/>
    </pc:sldMkLst>
    <p188:txBody>
      <a:bodyPr/>
      <a:lstStyle/>
      <a:p>
        <a:r>
          <a:rPr lang="en-US"/>
          <a:t>Criar novo slide entre o 3 e o 4 sobre o objectivo deste trabalho (testar os varios diferentes entre solvers exatos, meta-heuristicas e hyper-heuristicas)</a:t>
        </a:r>
      </a:p>
    </p188:txBody>
  </p188:cm>
</p188:cmLst>
</file>

<file path=ppt/comments/modernComment_115_A617461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BA6243-5B87-45E0-93B2-64F85B291207}" authorId="{86AEF6EC-261E-6E1E-54B8-F3B4555E2360}" created="2026-07-07T17:44:26.916">
    <pc:sldMkLst xmlns:pc="http://schemas.microsoft.com/office/powerpoint/2013/main/command">
      <pc:docMk/>
      <pc:sldMk cId="2786543127" sldId="277"/>
    </pc:sldMkLst>
    <p188:txBody>
      <a:bodyPr/>
      <a:lstStyle/>
      <a:p>
        <a:r>
          <a:rPr lang="en-US"/>
          <a:t>Adicionar um slide entre o 5 e o 6 com a big picture overview das varias combinacoes da policy configs (Mandatory Selection x Route Constructor x Route Improver, e.g., como a figura que se encontra no powerpoint Metodologia.pptx)</a:t>
        </a:r>
      </a:p>
    </p188:txBody>
  </p188:cm>
</p188:cmLst>
</file>

<file path=ppt/comments/modernComment_116_F189404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8748159-4D44-4F64-8ED5-2FC24818D506}" authorId="{86AEF6EC-261E-6E1E-54B8-F3B4555E2360}" created="2026-07-07T19:03:16.73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052303950" sldId="278"/>
      <ac:picMk id="6" creationId="{272DB83C-E759-A07F-AF04-E5340D41A2E4}"/>
    </ac:deMkLst>
    <p188:txBody>
      <a:bodyPr/>
      <a:lstStyle/>
      <a:p>
        <a:r>
          <a:rPr lang="en-US"/>
          <a:t>Aumentar (bastante) a legend da figura</a:t>
        </a:r>
      </a:p>
    </p188:txBody>
  </p188:cm>
</p188:cmLst>
</file>

<file path=ppt/comments/modernComment_117_315BBE8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D25F4BB-6AF8-4EE0-AA6D-F45766798DF4}" authorId="{AAAF4B5C-185C-2230-85AD-8CDE7A2E9EB7}" created="2026-07-09T21:56:52.30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828096140" sldId="279"/>
      <ac:picMk id="4" creationId="{32D58BB7-2768-3E74-B6E7-276F5BFAD60F}"/>
    </ac:deMkLst>
    <p188:txBody>
      <a:bodyPr/>
      <a:lstStyle/>
      <a:p>
        <a:r>
          <a:rPr lang="en-US"/>
          <a:t>Falta explicar isto antes de mostrares os resultados. Colei aqui o que estava no outro ficheiro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402ADC-6E4A-4441-85AF-3119E79B0129}" type="datetimeFigureOut">
              <a:t>7/10/2026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1F6B6F-F908-4DEE-A782-4CC6271AAEE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902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>
                <a:solidFill>
                  <a:srgbClr val="5A6A7A"/>
                </a:solidFill>
              </a:rPr>
              <a:t>Objective: </a:t>
            </a:r>
            <a:r>
              <a:rPr lang="en-US" i="1" err="1">
                <a:solidFill>
                  <a:srgbClr val="5A6A7A"/>
                </a:solidFill>
              </a:rPr>
              <a:t>maximise</a:t>
            </a:r>
            <a:r>
              <a:rPr lang="en-US" i="1">
                <a:solidFill>
                  <a:srgbClr val="5A6A7A"/>
                </a:solidFill>
              </a:rPr>
              <a:t> collected profit minus travel cost, choosing which nodes y to visit and how x routes them, subject to the vehicle capacity Q.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1F6B6F-F908-4DEE-A782-4CC6271AAEE1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1639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0_0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1_0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3_A3CD8400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5_A6174617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04_0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5_0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6_0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A_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8/10/relationships/comments" Target="../comments/modernComment_117_315BBE8C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B_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C_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16_F189404E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D_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microsoft.com/office/2018/10/relationships/comments" Target="../comments/modernComment_10E_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microsoft.com/office/2018/10/relationships/comments" Target="../comments/modernComment_10F_0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microsoft.com/office/2018/10/relationships/comments" Target="../comments/modernComment_110_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microsoft.com/office/2018/10/relationships/comments" Target="../comments/modernComment_111_0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2_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WSmart+ Route — Adaptive Routing Policies for Smart Waste Collection</a:t>
            </a:r>
          </a:p>
          <a:p>
            <a:pPr>
              <a:defRPr sz="2000">
                <a:solidFill>
                  <a:srgbClr val="C9D6E4"/>
                </a:solidFill>
              </a:defRPr>
            </a:pPr>
            <a:r>
              <a:t>Simulation Study of Selection Strategies, Route Constructors and Improvers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Afonso Fernandes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1.  The Vehicle Routing Problem with Profits (VRPP)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2.  Routing Simulator Philosophy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3.  Mandatory Node Selection Strategies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4.  Exact Solvers: BPC &amp; SWC-TCF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5.  Meta-Heuristics &amp; Hyper-Heuristics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6.  Evolutionary Algorithms: HGS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7.  Swarm Intelligence: PSOMA &amp; ACO-HH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8.  Neighborhood Search: SANS &amp; PG-CLNS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9.  Route Improvers: Classical Local Search vs Fast-TSP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10.  Results — Pareto Front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11.  Results — Summary KPI Analysis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12.  Results — Per-Scenario Heatmaps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13.  Results — Policy × Scenario Heatmaps (90 days)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14.  Results — Route Improver Comparison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15.  Conclusions, Limitations &amp; Future Work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Problem: Vehicle Routing Problem with Profits (VRPP)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9970" y="1236654"/>
            <a:ext cx="7233332" cy="2061656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46" y="1332352"/>
            <a:ext cx="6545578" cy="1874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96971"/>
            <a:ext cx="11450015" cy="127214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rPr lang="en-US" sz="2000"/>
              <a:t>•  Unlike the classical VRP, only a profitable subset of nodes is visited: profit </a:t>
            </a:r>
            <a:r>
              <a:rPr lang="en-US" sz="2000" err="1"/>
              <a:t>p_i</a:t>
            </a:r>
            <a:r>
              <a:rPr lang="en-US" sz="2000"/>
              <a:t> (waste kg) vs travel cost </a:t>
            </a:r>
            <a:r>
              <a:rPr lang="en-US" sz="2000" err="1"/>
              <a:t>c·d_ij</a:t>
            </a:r>
            <a:endParaRPr lang="en-US" sz="2000">
              <a:ea typeface="Calibri"/>
              <a:cs typeface="Calibri"/>
            </a:endParaRP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rPr lang="en-US" sz="2000"/>
              <a:t>•  In waste collection bins fill stochastically day by day — skipping a bin saves distance but risks overflow</a:t>
            </a:r>
            <a:endParaRPr lang="en-US" sz="2000">
              <a:ea typeface="Calibri"/>
              <a:cs typeface="Calibri"/>
            </a:endParaRP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rPr lang="en-US" sz="2000"/>
              <a:t>•  Two conflicting KPIs: bin overflows (service quality, ↓) and kg/km route efficiency (cost, ↑)</a:t>
            </a:r>
            <a:endParaRPr lang="en-US" sz="2000">
              <a:ea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F876F-7A60-4205-8FA6-C534FBE77E33}"/>
              </a:ext>
            </a:extLst>
          </p:cNvPr>
          <p:cNvSpPr txBox="1"/>
          <p:nvPr/>
        </p:nvSpPr>
        <p:spPr>
          <a:xfrm>
            <a:off x="863657" y="3297459"/>
            <a:ext cx="11094415" cy="261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sz="1100" b="1">
                <a:solidFill>
                  <a:srgbClr val="1F2D3D"/>
                </a:solidFill>
              </a:rPr>
              <a:t>Equation </a:t>
            </a:r>
            <a:r>
              <a:rPr lang="en-US" sz="1100" b="1">
                <a:solidFill>
                  <a:srgbClr val="1F2D3D"/>
                </a:solidFill>
              </a:rPr>
              <a:t>1</a:t>
            </a:r>
            <a:r>
              <a:rPr sz="1100" b="1">
                <a:solidFill>
                  <a:srgbClr val="1F2D3D"/>
                </a:solidFill>
              </a:rPr>
              <a:t>: </a:t>
            </a:r>
            <a:r>
              <a:rPr lang="en-US" sz="1100">
                <a:solidFill>
                  <a:srgbClr val="1F2D3D"/>
                </a:solidFill>
              </a:rPr>
              <a:t>Indicate what each variable of the equation represents....</a:t>
            </a:r>
            <a:endParaRPr lang="en-US" sz="1100">
              <a:solidFill>
                <a:srgbClr val="1F2D3D"/>
              </a:solidFill>
              <a:ea typeface="Calibri"/>
              <a:cs typeface="Calibri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D76F19-3F58-8854-FEC1-67A4A2F805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4323" y="1145777"/>
            <a:ext cx="3531432" cy="3196995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0F22DBA-5243-8606-7BF1-90811E203F37}"/>
              </a:ext>
            </a:extLst>
          </p:cNvPr>
          <p:cNvSpPr txBox="1"/>
          <p:nvPr/>
        </p:nvSpPr>
        <p:spPr>
          <a:xfrm>
            <a:off x="937024" y="1889858"/>
            <a:ext cx="9833548" cy="4725975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>
                <a:solidFill>
                  <a:schemeClr val="tx2"/>
                </a:solidFill>
              </a:rPr>
              <a:t>Exact methods:</a:t>
            </a:r>
            <a:endParaRPr lang="en-US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Calibri" panose="020B0604020202020204" pitchFamily="34" charset="0"/>
              <a:buChar char="-"/>
            </a:pPr>
            <a:r>
              <a:rPr lang="en-US">
                <a:solidFill>
                  <a:schemeClr val="tx2"/>
                </a:solidFill>
              </a:rPr>
              <a:t>Branch and Price and Cut (BPC)</a:t>
            </a:r>
            <a:endParaRPr lang="en-US">
              <a:solidFill>
                <a:schemeClr val="tx2"/>
              </a:solidFill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Calibri" panose="020B0604020202020204" pitchFamily="34" charset="0"/>
              <a:buChar char="-"/>
            </a:pPr>
            <a:r>
              <a:rPr lang="en-US">
                <a:solidFill>
                  <a:schemeClr val="tx2"/>
                </a:solidFill>
                <a:ea typeface="Calibri"/>
                <a:cs typeface="Calibri"/>
              </a:rPr>
              <a:t>Smart Waste Collection – Two-Commodity Flow (SWC-TCF)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Calibri" panose="020B0604020202020204" pitchFamily="34" charset="0"/>
              <a:buChar char="-"/>
            </a:pPr>
            <a:endParaRPr lang="en-US">
              <a:solidFill>
                <a:schemeClr val="tx2"/>
              </a:solidFill>
              <a:ea typeface="Calibri"/>
              <a:cs typeface="Calibri"/>
            </a:endParaRPr>
          </a:p>
          <a:p>
            <a:pPr marL="57150" defTabSz="914400">
              <a:lnSpc>
                <a:spcPct val="90000"/>
              </a:lnSpc>
              <a:spcAft>
                <a:spcPts val="600"/>
              </a:spcAft>
            </a:pPr>
            <a:r>
              <a:rPr lang="en-US">
                <a:solidFill>
                  <a:schemeClr val="tx2"/>
                </a:solidFill>
                <a:ea typeface="Calibri"/>
                <a:cs typeface="Calibri"/>
              </a:rPr>
              <a:t>Meta-Heuristics:</a:t>
            </a:r>
          </a:p>
          <a:p>
            <a:pPr marL="342900" indent="-285750" defTabSz="914400">
              <a:lnSpc>
                <a:spcPct val="90000"/>
              </a:lnSpc>
              <a:spcAft>
                <a:spcPts val="600"/>
              </a:spcAft>
              <a:buFont typeface="Calibri"/>
              <a:buChar char="-"/>
            </a:pPr>
            <a:r>
              <a:rPr lang="en-US">
                <a:solidFill>
                  <a:schemeClr val="tx2"/>
                </a:solidFill>
                <a:ea typeface="Calibri"/>
                <a:cs typeface="Calibri"/>
              </a:rPr>
              <a:t>Hybrid Genetic Search (HGS)</a:t>
            </a:r>
          </a:p>
          <a:p>
            <a:pPr marL="342900" indent="-285750" defTabSz="914400">
              <a:lnSpc>
                <a:spcPct val="90000"/>
              </a:lnSpc>
              <a:spcAft>
                <a:spcPts val="600"/>
              </a:spcAft>
              <a:buFont typeface="Calibri"/>
              <a:buChar char="-"/>
            </a:pPr>
            <a:r>
              <a:rPr lang="en-US">
                <a:solidFill>
                  <a:schemeClr val="tx2"/>
                </a:solidFill>
                <a:ea typeface="+mn-lt"/>
                <a:cs typeface="+mn-lt"/>
              </a:rPr>
              <a:t>Pheromone-Guided Cooperative Large Neighborhood Search (PG-CLNS)</a:t>
            </a:r>
          </a:p>
          <a:p>
            <a:pPr marL="342900" indent="-285750" defTabSz="914400">
              <a:lnSpc>
                <a:spcPct val="90000"/>
              </a:lnSpc>
              <a:spcAft>
                <a:spcPts val="600"/>
              </a:spcAft>
              <a:buFont typeface="Calibri"/>
              <a:buChar char="-"/>
            </a:pPr>
            <a:r>
              <a:rPr lang="en-US">
                <a:solidFill>
                  <a:schemeClr val="tx2"/>
                </a:solidFill>
                <a:ea typeface="Calibri"/>
                <a:cs typeface="Calibri"/>
              </a:rPr>
              <a:t>Adaptive Large Neighborhood Search (ALNS)</a:t>
            </a:r>
          </a:p>
          <a:p>
            <a:pPr marL="342900" indent="-285750" defTabSz="914400">
              <a:lnSpc>
                <a:spcPct val="90000"/>
              </a:lnSpc>
              <a:spcAft>
                <a:spcPts val="600"/>
              </a:spcAft>
              <a:buFont typeface="Calibri"/>
              <a:buChar char="-"/>
            </a:pPr>
            <a:r>
              <a:rPr lang="en-US">
                <a:solidFill>
                  <a:schemeClr val="tx2"/>
                </a:solidFill>
                <a:ea typeface="Calibri"/>
                <a:cs typeface="Calibri"/>
              </a:rPr>
              <a:t>Simulated Annealing Neighborhood Search (SANS)</a:t>
            </a:r>
          </a:p>
          <a:p>
            <a:pPr marL="342900" indent="-285750" defTabSz="914400">
              <a:lnSpc>
                <a:spcPct val="90000"/>
              </a:lnSpc>
              <a:spcAft>
                <a:spcPts val="600"/>
              </a:spcAft>
              <a:buFont typeface="Calibri"/>
              <a:buChar char="-"/>
            </a:pPr>
            <a:r>
              <a:rPr lang="en-US">
                <a:solidFill>
                  <a:schemeClr val="tx2"/>
                </a:solidFill>
                <a:ea typeface="Calibri"/>
                <a:cs typeface="Calibri"/>
              </a:rPr>
              <a:t>Particle Swarm Optimization Memetic Algorithm (PSOMA)</a:t>
            </a:r>
          </a:p>
          <a:p>
            <a:pPr marL="342900" indent="-285750" defTabSz="914400">
              <a:lnSpc>
                <a:spcPct val="90000"/>
              </a:lnSpc>
              <a:spcAft>
                <a:spcPts val="600"/>
              </a:spcAft>
              <a:buFont typeface="Calibri"/>
              <a:buChar char="-"/>
            </a:pPr>
            <a:endParaRPr lang="en-US">
              <a:solidFill>
                <a:schemeClr val="tx2"/>
              </a:solidFill>
              <a:ea typeface="Calibri"/>
              <a:cs typeface="Calibri"/>
            </a:endParaRPr>
          </a:p>
          <a:p>
            <a:pPr marL="57150" defTabSz="914400">
              <a:lnSpc>
                <a:spcPct val="90000"/>
              </a:lnSpc>
              <a:spcAft>
                <a:spcPts val="600"/>
              </a:spcAft>
            </a:pPr>
            <a:r>
              <a:rPr lang="en-US">
                <a:solidFill>
                  <a:schemeClr val="tx2"/>
                </a:solidFill>
                <a:ea typeface="Calibri"/>
                <a:cs typeface="Calibri"/>
              </a:rPr>
              <a:t>Hyper-Heuristics:</a:t>
            </a:r>
            <a:br>
              <a:rPr lang="en-US">
                <a:solidFill>
                  <a:schemeClr val="tx2"/>
                </a:solidFill>
                <a:ea typeface="Calibri"/>
                <a:cs typeface="Calibri"/>
              </a:rPr>
            </a:br>
            <a:r>
              <a:rPr lang="en-US">
                <a:solidFill>
                  <a:schemeClr val="tx2"/>
                </a:solidFill>
                <a:ea typeface="Calibri"/>
                <a:cs typeface="Calibri"/>
              </a:rPr>
              <a:t>- Ant Colony Optimization Hyper-Heuristic (ACO-HH)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EAF7AA1-A48C-9027-A1BB-685074FB63A4}"/>
              </a:ext>
            </a:extLst>
          </p:cNvPr>
          <p:cNvSpPr txBox="1"/>
          <p:nvPr/>
        </p:nvSpPr>
        <p:spPr>
          <a:xfrm>
            <a:off x="1153886" y="819654"/>
            <a:ext cx="610265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</a:pPr>
            <a:r>
              <a:rPr lang="en-US">
                <a:ea typeface="Calibri"/>
                <a:cs typeface="Calibri"/>
              </a:rPr>
              <a:t>Objective of this work was...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15488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Routing Simulator Philosophy — Modular Policy Pipeline</a:t>
            </a:r>
          </a:p>
        </p:txBody>
      </p:sp>
      <p:sp>
        <p:nvSpPr>
          <p:cNvPr id="3" name="Chevron 2"/>
          <p:cNvSpPr/>
          <p:nvPr/>
        </p:nvSpPr>
        <p:spPr>
          <a:xfrm>
            <a:off x="548640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bin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selection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LA · LM · SL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which bins today?</a:t>
            </a:r>
          </a:p>
        </p:txBody>
      </p:sp>
      <p:sp>
        <p:nvSpPr>
          <p:cNvPr id="5" name="Chevron 4"/>
          <p:cNvSpPr/>
          <p:nvPr/>
        </p:nvSpPr>
        <p:spPr>
          <a:xfrm>
            <a:off x="3379393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9393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exact · meta-h. · hyper-h.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build the routes</a:t>
            </a:r>
          </a:p>
        </p:txBody>
      </p:sp>
      <p:sp>
        <p:nvSpPr>
          <p:cNvPr id="7" name="Chevron 6"/>
          <p:cNvSpPr/>
          <p:nvPr/>
        </p:nvSpPr>
        <p:spPr>
          <a:xfrm>
            <a:off x="6210146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Acceptance criterion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6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constructor-dependent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e.g. BMC, OI</a:t>
            </a:r>
          </a:p>
        </p:txBody>
      </p:sp>
      <p:sp>
        <p:nvSpPr>
          <p:cNvPr id="9" name="Chevron 8"/>
          <p:cNvSpPr/>
          <p:nvPr/>
        </p:nvSpPr>
        <p:spPr>
          <a:xfrm>
            <a:off x="9040899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0899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CLS · FTSP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post-optimisation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023360"/>
            <a:ext cx="6522415" cy="7315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Multi-day simulator: region × graph size ×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D3D"/>
                </a:solidFill>
              </a:rPr>
              <a:t>Figure 1: </a:t>
            </a:r>
            <a:r>
              <a:rPr sz="1100" i="1">
                <a:solidFill>
                  <a:srgbClr val="5A6A7A"/>
                </a:solidFill>
              </a:rPr>
              <a:t>Every daily routing policy decomposes into a mandatory bin-selection strategy, a route constructor, an optional acceptance criterion and an optional route improver.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0944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Every daily routing policy is a composition of interchangeable stages, benchmarked under identical conditions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simulator replays multi-day scenarios (region × graph size × waste distribution), logging overflows, kg, km, kg/km and profit for every policy combination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8EAFAB-03A8-B18D-B758-02929E03B9D8}"/>
              </a:ext>
            </a:extLst>
          </p:cNvPr>
          <p:cNvSpPr txBox="1"/>
          <p:nvPr/>
        </p:nvSpPr>
        <p:spPr>
          <a:xfrm>
            <a:off x="989703" y="687894"/>
            <a:ext cx="2103120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err="1"/>
              <a:t>Definir</a:t>
            </a:r>
            <a:r>
              <a:rPr lang="en-US"/>
              <a:t> </a:t>
            </a:r>
            <a:r>
              <a:rPr lang="en-US" err="1"/>
              <a:t>os</a:t>
            </a:r>
            <a:r>
              <a:rPr lang="en-US"/>
              <a:t> Must 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02095A-F2D6-5A49-DBA1-03C0D9DB4478}"/>
              </a:ext>
            </a:extLst>
          </p:cNvPr>
          <p:cNvSpPr txBox="1"/>
          <p:nvPr/>
        </p:nvSpPr>
        <p:spPr>
          <a:xfrm>
            <a:off x="879054" y="1226893"/>
            <a:ext cx="2678654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/>
              <a:t>1. Last Minute: </a:t>
            </a:r>
            <a:r>
              <a:rPr lang="en-US" err="1"/>
              <a:t>Probabilidade</a:t>
            </a:r>
            <a:r>
              <a:rPr lang="en-US"/>
              <a:t> de </a:t>
            </a:r>
            <a:r>
              <a:rPr lang="en-US" err="1"/>
              <a:t>entrar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overflow (Threshold </a:t>
            </a:r>
            <a:r>
              <a:rPr lang="en-US" err="1"/>
              <a:t>testados</a:t>
            </a:r>
            <a:r>
              <a:rPr lang="en-US"/>
              <a:t>: </a:t>
            </a:r>
            <a:r>
              <a:rPr lang="en-US">
                <a:solidFill>
                  <a:schemeClr val="accent6"/>
                </a:solidFill>
              </a:rPr>
              <a:t>70</a:t>
            </a:r>
            <a:r>
              <a:rPr lang="en-US"/>
              <a:t>%, </a:t>
            </a:r>
            <a:r>
              <a:rPr lang="en-US">
                <a:solidFill>
                  <a:schemeClr val="accent6"/>
                </a:solidFill>
              </a:rPr>
              <a:t>90</a:t>
            </a:r>
            <a:r>
              <a:rPr lang="en-US"/>
              <a:t>%)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B53192-1641-1B38-6F9B-4A3B4E7F5BCC}"/>
              </a:ext>
            </a:extLst>
          </p:cNvPr>
          <p:cNvSpPr txBox="1"/>
          <p:nvPr/>
        </p:nvSpPr>
        <p:spPr>
          <a:xfrm>
            <a:off x="879174" y="3957895"/>
            <a:ext cx="267865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3. Look Ahead: </a:t>
            </a:r>
            <a:r>
              <a:rPr lang="en-US" err="1"/>
              <a:t>Estimativa</a:t>
            </a:r>
            <a:r>
              <a:rPr lang="en-US"/>
              <a:t> de </a:t>
            </a:r>
            <a:r>
              <a:rPr lang="en-US" err="1"/>
              <a:t>enchimento</a:t>
            </a:r>
            <a:r>
              <a:rPr lang="en-US"/>
              <a:t> </a:t>
            </a:r>
            <a:r>
              <a:rPr lang="en-US" err="1"/>
              <a:t>nos</a:t>
            </a:r>
            <a:r>
              <a:rPr lang="en-US"/>
              <a:t> </a:t>
            </a:r>
            <a:r>
              <a:rPr lang="en-US" err="1"/>
              <a:t>dias</a:t>
            </a:r>
            <a:r>
              <a:rPr lang="en-US"/>
              <a:t> </a:t>
            </a:r>
            <a:r>
              <a:rPr lang="en-US" err="1"/>
              <a:t>seguintes</a:t>
            </a:r>
            <a:r>
              <a:rPr lang="en-US"/>
              <a:t>, com base na </a:t>
            </a:r>
            <a:r>
              <a:rPr lang="en-US" err="1"/>
              <a:t>média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7B72C2-C0B5-64C2-2741-ADE51453657D}"/>
              </a:ext>
            </a:extLst>
          </p:cNvPr>
          <p:cNvSpPr txBox="1"/>
          <p:nvPr/>
        </p:nvSpPr>
        <p:spPr>
          <a:xfrm>
            <a:off x="4999617" y="687894"/>
            <a:ext cx="2103120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err="1"/>
              <a:t>Definição</a:t>
            </a:r>
            <a:r>
              <a:rPr lang="en-US"/>
              <a:t> da Rota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C9E010-5DDE-A410-BB9D-20AC9FA94148}"/>
              </a:ext>
            </a:extLst>
          </p:cNvPr>
          <p:cNvSpPr txBox="1"/>
          <p:nvPr/>
        </p:nvSpPr>
        <p:spPr>
          <a:xfrm>
            <a:off x="4782671" y="1524583"/>
            <a:ext cx="2678654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/>
              <a:t>1. SWC-TCF (</a:t>
            </a:r>
            <a:r>
              <a:rPr lang="en-US" b="1" err="1"/>
              <a:t>Gurobi</a:t>
            </a:r>
            <a:r>
              <a:rPr lang="en-US" b="1"/>
              <a:t>)</a:t>
            </a:r>
            <a:endParaRPr lang="en-US" b="1">
              <a:ea typeface="Calibri"/>
              <a:cs typeface="Calibri"/>
            </a:endParaRPr>
          </a:p>
          <a:p>
            <a:r>
              <a:rPr lang="en-US" b="1"/>
              <a:t>2. Branch-Price-and-Cut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A2C787-916F-C2DD-F29C-705D33617DF6}"/>
              </a:ext>
            </a:extLst>
          </p:cNvPr>
          <p:cNvSpPr txBox="1"/>
          <p:nvPr/>
        </p:nvSpPr>
        <p:spPr>
          <a:xfrm>
            <a:off x="4749497" y="3078227"/>
            <a:ext cx="2861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4. Hybrid Genetic Search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9D7F18-67B6-C16B-B545-E87F3A4BB3F1}"/>
              </a:ext>
            </a:extLst>
          </p:cNvPr>
          <p:cNvSpPr txBox="1"/>
          <p:nvPr/>
        </p:nvSpPr>
        <p:spPr>
          <a:xfrm>
            <a:off x="4749497" y="2783727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3. SANS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91BEA4-67B4-1F12-A4FB-AA6A9F2C1157}"/>
              </a:ext>
            </a:extLst>
          </p:cNvPr>
          <p:cNvSpPr txBox="1"/>
          <p:nvPr/>
        </p:nvSpPr>
        <p:spPr>
          <a:xfrm>
            <a:off x="4723503" y="4908256"/>
            <a:ext cx="2678654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/>
              <a:t>8. Hyper-Heuristic ACO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B67269-E061-A723-53B2-88110ECC8888}"/>
              </a:ext>
            </a:extLst>
          </p:cNvPr>
          <p:cNvSpPr txBox="1"/>
          <p:nvPr/>
        </p:nvSpPr>
        <p:spPr>
          <a:xfrm>
            <a:off x="4749497" y="3635292"/>
            <a:ext cx="2678654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/>
              <a:t>6. PSOMA</a:t>
            </a:r>
            <a:endParaRPr lang="en-US"/>
          </a:p>
          <a:p>
            <a:r>
              <a:rPr lang="en-US" b="1"/>
              <a:t>7. PG-CLNS</a:t>
            </a:r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AA5027B-1B0C-1298-592C-EF43D72D9429}"/>
              </a:ext>
            </a:extLst>
          </p:cNvPr>
          <p:cNvSpPr/>
          <p:nvPr/>
        </p:nvSpPr>
        <p:spPr>
          <a:xfrm>
            <a:off x="4711850" y="1227785"/>
            <a:ext cx="2775473" cy="1348432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2D5C4B-EA53-2FBA-FC51-4AFCEB301E5F}"/>
              </a:ext>
            </a:extLst>
          </p:cNvPr>
          <p:cNvSpPr txBox="1"/>
          <p:nvPr/>
        </p:nvSpPr>
        <p:spPr>
          <a:xfrm>
            <a:off x="6003664" y="1238328"/>
            <a:ext cx="1457661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en-US" sz="1200"/>
              <a:t>Exact Methods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5E29C9F-309F-8AEE-86B0-BC504EAB1FAA}"/>
              </a:ext>
            </a:extLst>
          </p:cNvPr>
          <p:cNvSpPr/>
          <p:nvPr/>
        </p:nvSpPr>
        <p:spPr>
          <a:xfrm>
            <a:off x="4704673" y="2726815"/>
            <a:ext cx="2775473" cy="173737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BB478F-38B9-4AE8-93BE-78B802FCEDFB}"/>
              </a:ext>
            </a:extLst>
          </p:cNvPr>
          <p:cNvSpPr txBox="1"/>
          <p:nvPr/>
        </p:nvSpPr>
        <p:spPr>
          <a:xfrm>
            <a:off x="5973516" y="2715960"/>
            <a:ext cx="1457661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en-US" sz="1200"/>
              <a:t>Meta-Heuristics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F5F4B05-4CF2-EE48-A164-36AA9818EF16}"/>
              </a:ext>
            </a:extLst>
          </p:cNvPr>
          <p:cNvSpPr/>
          <p:nvPr/>
        </p:nvSpPr>
        <p:spPr>
          <a:xfrm>
            <a:off x="4723503" y="4587650"/>
            <a:ext cx="2775473" cy="68026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C0A782-B26B-AB32-C1C2-44B65DCAA893}"/>
              </a:ext>
            </a:extLst>
          </p:cNvPr>
          <p:cNvSpPr txBox="1"/>
          <p:nvPr/>
        </p:nvSpPr>
        <p:spPr>
          <a:xfrm>
            <a:off x="5524053" y="4577978"/>
            <a:ext cx="1963270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en-US" sz="1200"/>
              <a:t>Hyper-H​</a:t>
            </a:r>
            <a:r>
              <a:rPr lang="en-US" sz="1200" err="1"/>
              <a:t>euristics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B6B030-7EF9-489C-DA31-29E17BC3121F}"/>
              </a:ext>
            </a:extLst>
          </p:cNvPr>
          <p:cNvSpPr txBox="1"/>
          <p:nvPr/>
        </p:nvSpPr>
        <p:spPr>
          <a:xfrm>
            <a:off x="4749497" y="3354842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5. ALNS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58E182-396F-C590-F590-5CA8B629BBEE}"/>
              </a:ext>
            </a:extLst>
          </p:cNvPr>
          <p:cNvSpPr txBox="1"/>
          <p:nvPr/>
        </p:nvSpPr>
        <p:spPr>
          <a:xfrm>
            <a:off x="773139" y="2623199"/>
            <a:ext cx="28893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2.</a:t>
            </a:r>
            <a:r>
              <a:rPr lang="en-US"/>
              <a:t> </a:t>
            </a:r>
            <a:r>
              <a:rPr lang="en-US" err="1"/>
              <a:t>Estimativa</a:t>
            </a:r>
            <a:r>
              <a:rPr lang="en-US"/>
              <a:t> para </a:t>
            </a:r>
            <a:r>
              <a:rPr lang="en-US">
                <a:solidFill>
                  <a:schemeClr val="accent6"/>
                </a:solidFill>
              </a:rPr>
              <a:t>1 </a:t>
            </a:r>
            <a:r>
              <a:rPr lang="en-US" err="1">
                <a:solidFill>
                  <a:schemeClr val="accent6"/>
                </a:solidFill>
              </a:rPr>
              <a:t>ou</a:t>
            </a:r>
            <a:r>
              <a:rPr lang="en-US">
                <a:solidFill>
                  <a:schemeClr val="accent6"/>
                </a:solidFill>
              </a:rPr>
              <a:t> 2</a:t>
            </a:r>
            <a:r>
              <a:rPr lang="en-US"/>
              <a:t> </a:t>
            </a:r>
            <a:r>
              <a:rPr lang="en-US" err="1"/>
              <a:t>dia</a:t>
            </a:r>
            <a:r>
              <a:rPr lang="en-US"/>
              <a:t> com </a:t>
            </a:r>
            <a:r>
              <a:rPr lang="en-US" b="1" err="1"/>
              <a:t>Nível</a:t>
            </a:r>
            <a:r>
              <a:rPr lang="en-US" b="1"/>
              <a:t> de Serviço </a:t>
            </a:r>
            <a:r>
              <a:rPr lang="en-US"/>
              <a:t>(</a:t>
            </a:r>
            <a:r>
              <a:rPr lang="en-US" err="1"/>
              <a:t>média</a:t>
            </a:r>
            <a:r>
              <a:rPr lang="en-US"/>
              <a:t> + </a:t>
            </a:r>
            <a:r>
              <a:rPr lang="en-US">
                <a:solidFill>
                  <a:schemeClr val="accent6"/>
                </a:solidFill>
              </a:rPr>
              <a:t>z(0.84)</a:t>
            </a:r>
            <a:r>
              <a:rPr lang="en-US" err="1"/>
              <a:t>Desvio</a:t>
            </a:r>
            <a:r>
              <a:rPr lang="en-US"/>
              <a:t> </a:t>
            </a:r>
            <a:r>
              <a:rPr lang="en-US" err="1"/>
              <a:t>Padrão</a:t>
            </a:r>
            <a:r>
              <a:rPr lang="en-US"/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0D6FE2-AE4F-C297-A2DA-89D9A783A8E3}"/>
              </a:ext>
            </a:extLst>
          </p:cNvPr>
          <p:cNvSpPr txBox="1"/>
          <p:nvPr/>
        </p:nvSpPr>
        <p:spPr>
          <a:xfrm>
            <a:off x="8483302" y="687894"/>
            <a:ext cx="2398058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Pos-</a:t>
            </a:r>
            <a:r>
              <a:rPr lang="en-US" err="1"/>
              <a:t>Processamento</a:t>
            </a:r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50CED9-3730-B7D0-D87B-4F97990254E0}"/>
              </a:ext>
            </a:extLst>
          </p:cNvPr>
          <p:cNvSpPr txBox="1"/>
          <p:nvPr/>
        </p:nvSpPr>
        <p:spPr>
          <a:xfrm>
            <a:off x="8470303" y="2776168"/>
            <a:ext cx="1454524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/>
              <a:t>1. Fast TSP</a:t>
            </a:r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DC543F-F3E3-67EA-C717-D5F012869848}"/>
              </a:ext>
            </a:extLst>
          </p:cNvPr>
          <p:cNvSpPr txBox="1"/>
          <p:nvPr/>
        </p:nvSpPr>
        <p:spPr>
          <a:xfrm>
            <a:off x="8483302" y="3380175"/>
            <a:ext cx="190320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/>
              <a:t>2. Local Search</a:t>
            </a:r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A3E941D-74B0-70DF-EF13-BD28D725A613}"/>
              </a:ext>
            </a:extLst>
          </p:cNvPr>
          <p:cNvSpPr/>
          <p:nvPr/>
        </p:nvSpPr>
        <p:spPr>
          <a:xfrm>
            <a:off x="8352413" y="2621030"/>
            <a:ext cx="2775473" cy="1200325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1D7B05-8D86-62A5-52A1-DD125E83FAD7}"/>
              </a:ext>
            </a:extLst>
          </p:cNvPr>
          <p:cNvSpPr txBox="1"/>
          <p:nvPr/>
        </p:nvSpPr>
        <p:spPr>
          <a:xfrm>
            <a:off x="9664172" y="2641062"/>
            <a:ext cx="14576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err="1"/>
              <a:t>Reformula</a:t>
            </a:r>
            <a:r>
              <a:rPr lang="en-US" sz="1200"/>
              <a:t> a </a:t>
            </a:r>
            <a:r>
              <a:rPr lang="en-US" sz="1200" err="1"/>
              <a:t>rota</a:t>
            </a:r>
            <a:endParaRPr lang="en-US" sz="120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0971990-040D-3771-B7D2-833804C673B0}"/>
              </a:ext>
            </a:extLst>
          </p:cNvPr>
          <p:cNvSpPr/>
          <p:nvPr/>
        </p:nvSpPr>
        <p:spPr>
          <a:xfrm>
            <a:off x="826417" y="3832907"/>
            <a:ext cx="2782730" cy="1442265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C227E0F-9D8C-AB92-39F7-EE410748835E}"/>
              </a:ext>
            </a:extLst>
          </p:cNvPr>
          <p:cNvSpPr/>
          <p:nvPr/>
        </p:nvSpPr>
        <p:spPr>
          <a:xfrm>
            <a:off x="804645" y="1227592"/>
            <a:ext cx="2717417" cy="1202780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CB1E87A-D3C7-77FA-08B9-250751D72029}"/>
              </a:ext>
            </a:extLst>
          </p:cNvPr>
          <p:cNvSpPr/>
          <p:nvPr/>
        </p:nvSpPr>
        <p:spPr>
          <a:xfrm>
            <a:off x="811902" y="2555649"/>
            <a:ext cx="2753702" cy="1195523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78654312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Mandatory Node Selection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7432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5586" y="1234440"/>
            <a:ext cx="7900522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D3D"/>
                </a:solidFill>
              </a:rPr>
              <a:t>Equation 2: </a:t>
            </a:r>
            <a:r>
              <a:rPr sz="1100" i="1">
                <a:solidFill>
                  <a:srgbClr val="5A6A7A"/>
                </a:solidFill>
              </a:rPr>
              <a:t>The three mandatory selection rules — Look-Ahead (LA) forecasts fill level f_i at t+δ, Last-Minute (LM) reacts once f_i crosses a critical fill threshold CF, and Service-Level (SL) bounds each bin's overflow probability by a target confidence 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00600"/>
            <a:ext cx="11094415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Look-Ahead anticipates predicted overflows; Last-Minute waits for a critical fill threshold; Service-Level bounds each bin's overflow probability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Empirical trade-off: LM dominates efficiency (kg/km), SL dominates overflow prevention, LA sits in between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choice spans the service-quality vs cost spectrum — an operational decision, not an algorithmic one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45720" rIns="91440" bIns="4572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Exact </a:t>
            </a:r>
            <a:r>
              <a:rPr lang="en-US"/>
              <a:t>Methods</a:t>
            </a:r>
            <a:r>
              <a:t>: BPC &amp; SWC-TCF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Meta-Heuristics &amp; Hyper-Heuristics — Overarching Philosophy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0944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Heuristic search trades a small optimality gap for polynomial runtime — essential beyond the exact solvers' size limits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Meta-heuristics balance exploration (diversify, escape local optima) and exploitation (intensify, polish good solutions)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Hyper-heuristics search the space of heuristics itself, learning which low-level operator to apply next (e.g. ACO-HH)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Three families studied: evolutionary (HGS), swarm intelligence (PSOMA, ACO-HH), neighborhood search (SANS, PG-CLNS)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Route Improvers: Classical Local Search vs Fast-TSP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0944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Optional, constructor-agnostic post-optimisation of each constructed route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CLS: exhaustive intra/inter-route neighbourhoods (2-opt, or-opt, swap, relocate) to a local optimum — best kg/km polish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Fast-TSP: reorders each route as a TSP — exact for small routes, Stochastic Local Search (SLS) under the hood for graphs with more than 20 nodes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Improver choice is a second-order effect: selection strategy and constructor dominate the KPI outcomes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329F3-17D4-6E93-4346-E0B4E87B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4808C-D772-7017-5209-0B034B26D79C}"/>
              </a:ext>
            </a:extLst>
          </p:cNvPr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45720" rIns="91440" bIns="4572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rPr lang="en-US"/>
              <a:t>Design of Experiments</a:t>
            </a: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D58BB7-2768-3E74-B6E7-276F5BFAD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0106"/>
            <a:ext cx="12192000" cy="646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09614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Pareto Front (Overflows vs kg/km)</a:t>
            </a:r>
          </a:p>
        </p:txBody>
      </p:sp>
      <p:pic>
        <p:nvPicPr>
          <p:cNvPr id="3" name="Picture 2" descr="pareto_scatter_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83163"/>
            <a:ext cx="11460175" cy="42574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D3D"/>
                </a:solidFill>
              </a:rPr>
              <a:t>Figure 2: </a:t>
            </a:r>
            <a:r>
              <a:rPr sz="1100" i="1">
                <a:solidFill>
                  <a:srgbClr val="5A6A7A"/>
                </a:solidFill>
              </a:rPr>
              <a:t>Symlog X axis (overflows). Colour = selection variant, shape = scenario, dashed lines = Pareto fronts (one colour per scenario).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45720" rIns="91440" bIns="4572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Summary KPI Analysis</a:t>
            </a:r>
          </a:p>
        </p:txBody>
      </p:sp>
      <p:pic>
        <p:nvPicPr>
          <p:cNvPr id="3" name="Picture 2" descr="overflow_by_config_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8337" y="1051560"/>
            <a:ext cx="8275020" cy="2468880"/>
          </a:xfrm>
          <a:prstGeom prst="rect">
            <a:avLst/>
          </a:prstGeom>
        </p:spPr>
      </p:pic>
      <p:pic>
        <p:nvPicPr>
          <p:cNvPr id="4" name="Picture 3" descr="kgkm_by_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7182" y="3611880"/>
            <a:ext cx="827733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D3D"/>
                </a:solidFill>
              </a:rPr>
              <a:t>Figure 3: </a:t>
            </a:r>
            <a:r>
              <a:rPr sz="1100" i="1">
                <a:solidFill>
                  <a:srgbClr val="5A6A7A"/>
                </a:solidFill>
              </a:rPr>
              <a:t>Mean ± min/max range across route constructors; colours discriminate the mandatory selection strategies.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90A6D1-DCCF-F38C-B570-A1F6D583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2DB83C-E759-A07F-AF04-E5340D41A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1189"/>
            <a:ext cx="11277600" cy="4595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30395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Per-Scenario Heatmaps (Constructors × Strategy·Improver)</a:t>
            </a:r>
          </a:p>
        </p:txBody>
      </p:sp>
      <p:pic>
        <p:nvPicPr>
          <p:cNvPr id="3" name="Picture 2" descr="scenario_constructor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518" y="1080589"/>
            <a:ext cx="9275664" cy="527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D3D"/>
                </a:solidFill>
              </a:rPr>
              <a:t>Figure 4: </a:t>
            </a:r>
            <a:r>
              <a:rPr sz="1100" i="1">
                <a:solidFill>
                  <a:srgbClr val="5A6A7A"/>
                </a:solidFill>
              </a:rPr>
              <a:t>30-day runs. One panel per scenario; route constructors on the rows, selection × improver combinations on the columns.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Overflow &amp; kg/km Heatmaps, 90 Days (Policies × Scenarios)</a:t>
            </a:r>
          </a:p>
        </p:txBody>
      </p:sp>
      <p:pic>
        <p:nvPicPr>
          <p:cNvPr id="3" name="Picture 2" descr="policy_scenario_heatmap_overfl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384" y="1051560"/>
            <a:ext cx="4706518" cy="5120640"/>
          </a:xfrm>
          <a:prstGeom prst="rect">
            <a:avLst/>
          </a:prstGeom>
        </p:spPr>
      </p:pic>
      <p:pic>
        <p:nvPicPr>
          <p:cNvPr id="4" name="Picture 3" descr="policy_scenario_heatmap_kgk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988" y="1051560"/>
            <a:ext cx="467036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D3D"/>
                </a:solidFill>
              </a:rPr>
              <a:t>Figure 5: </a:t>
            </a:r>
            <a:r>
              <a:rPr sz="1100" i="1">
                <a:solidFill>
                  <a:srgbClr val="5A6A7A"/>
                </a:solidFill>
              </a:rPr>
              <a:t>90-day runs (Pareto-front policies only — fewer rows, easier to read). Rows = policy configurations; columns = scenarios.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Route Improver Comparison</a:t>
            </a:r>
          </a:p>
        </p:txBody>
      </p:sp>
      <p:pic>
        <p:nvPicPr>
          <p:cNvPr id="3" name="Picture 2" descr="improver_bubble_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77" y="1226698"/>
            <a:ext cx="11460175" cy="4654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D3D"/>
                </a:solidFill>
              </a:rPr>
              <a:t>Figure 6: </a:t>
            </a:r>
            <a:r>
              <a:rPr sz="1100" i="1">
                <a:solidFill>
                  <a:srgbClr val="5A6A7A"/>
                </a:solidFill>
              </a:rPr>
              <a:t>Each bubble = (improver, scenario) averaged over strategies and constructors — FTSP vs CLS contrasted directly.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Full Table (30-Day Horizon)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601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E74B5"/>
                </a:solidFill>
              </a:defRPr>
            </a:pPr>
            <a:r>
              <a:t>Improver: FTSP</a:t>
            </a:r>
          </a:p>
        </p:txBody>
      </p:sp>
      <p:pic>
        <p:nvPicPr>
          <p:cNvPr id="4" name="Picture 3" descr="full_results_table_improver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79833"/>
            <a:ext cx="11643055" cy="16775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520440"/>
            <a:ext cx="114601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E74B5"/>
                </a:solidFill>
              </a:defRPr>
            </a:pPr>
            <a:r>
              <a:t>Improver: CLS</a:t>
            </a:r>
          </a:p>
        </p:txBody>
      </p:sp>
      <p:pic>
        <p:nvPicPr>
          <p:cNvPr id="6" name="Picture 5" descr="full_results_table_improver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48713"/>
            <a:ext cx="11643055" cy="16775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D3D"/>
                </a:solidFill>
              </a:rPr>
              <a:t>Table 1: </a:t>
            </a:r>
            <a:r>
              <a:rPr sz="1100" i="1">
                <a:solidFill>
                  <a:srgbClr val="5A6A7A"/>
                </a:solidFill>
              </a:rPr>
              <a:t>Full results table — rows: graph size × region × data distribution; columns: partitioned by route improver (FTSP, CLS), one partial table per value; each partial table then grouped by mandatory selection strategy × route constructor. Each cell reports mean±std overflows and mean±std kg/km.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Conclusions, Limitations &amp; Future Work</a:t>
            </a:r>
          </a:p>
        </p:txBody>
      </p:sp>
      <p:pic>
        <p:nvPicPr>
          <p:cNvPr id="3" name="Picture 2" descr="policy_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755" y="1221470"/>
            <a:ext cx="5730087" cy="48315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D3D"/>
                </a:solidFill>
              </a:rPr>
              <a:t>Figure 7: </a:t>
            </a:r>
            <a:r>
              <a:rPr sz="1100" i="1">
                <a:solidFill>
                  <a:srgbClr val="5A6A7A"/>
                </a:solidFill>
              </a:rPr>
              <a:t>Overlaid radar chart comparing key route constructors across overflow, efficiency, distance and profit axes — outer position indicates better performance on that axis.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55767" cy="22057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The selection strategy dominates the overflow/efficiency trade-off</a:t>
            </a:r>
            <a:endParaRPr lang="en-US">
              <a:ea typeface="Calibri"/>
              <a:cs typeface="Calibri"/>
            </a:endParaRP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BPC and PG-CLNS are the most frequent Pareto-front constructors; ACO-HH is the most robust across scenarios and horizons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Patterns are stable from 30 to 90 days; overflow pressure grows with the horizon while kg/km stays consistent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Limitations: </a:t>
            </a:r>
            <a:r>
              <a:rPr lang="en-US"/>
              <a:t>100 and 170 bin graphs in most cases can be fully collected with a single vehicle, single waste type, only 1 scenario for Figueira</a:t>
            </a:r>
            <a:endParaRPr lang="en-US">
              <a:ea typeface="Calibri"/>
              <a:cs typeface="Calibri"/>
            </a:endParaRP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Future work: neural constructors in the same pipeline, multi-vehicle fleets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 — Questions &amp; Answers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Thank you for your attention!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Time for questions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17</cp:revision>
  <dcterms:created xsi:type="dcterms:W3CDTF">2013-01-27T09:14:16Z</dcterms:created>
  <dcterms:modified xsi:type="dcterms:W3CDTF">2026-07-10T14:48:06Z</dcterms:modified>
  <cp:category/>
</cp:coreProperties>
</file>