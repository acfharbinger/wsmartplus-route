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6" r:id="rId2"/>
    <p:sldId id="287" r:id="rId3"/>
    <p:sldId id="258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28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AF4B5C-185C-2230-85AD-8CDE7A2E9EB7}" name="Tânia Ramos" initials="TR" userId="S::ist46496@tecnico.ulisboa.pt::8ee80547-3bb5-42b4-8a8d-20cd2151f31c" providerId="AD"/>
  <p188:author id="{DB41FB95-DA09-465E-7A18-3355C689E921}" name="Pedro Alexandre Simões dos Santos" initials="PS" userId="S::ist12886@tecnico.ulisboa.pt::8bc9f119-ec2c-4c38-8f1f-bc68b49ee4d7" providerId="AD"/>
  <p188:author id="{86AEF6EC-261E-6E1E-54B8-F3B4555E2360}" name="Afonso Cruz Bandeira Fernandes" initials="AF" userId="S::ist193679@tecnico.ulisboa.pt::1c31ff24-9977-4dcb-946f-ff13899c01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4BBB5-315B-EF65-2F80-0E25C3BA92E4}" v="25" dt="2026-07-13T15:35:39.079"/>
    <p1510:client id="{2EECDFC3-4931-3C4B-7659-9FF525E435FE}" v="4" dt="2026-07-13T17:03:26.390"/>
    <p1510:client id="{31AE6DD9-EC01-4FBB-AF97-6B811D5C312C}" v="437" dt="2026-07-13T16:49:57.741"/>
    <p1510:client id="{4E29E7F6-CD2F-6291-2085-2F6FFA5BB247}" v="121" dt="2026-07-13T17:45:07.168"/>
    <p1510:client id="{B86FECF1-A9A9-354D-60AF-28423CEBD9DA}" v="38" dt="2026-07-13T15:38:39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0F1742-A736-4A38-9C91-A8B23BB70A1C}" authorId="{86AEF6EC-261E-6E1E-54B8-F3B4555E2360}" status="resolved" created="2026-07-07T17:45:12.80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picMk id="4" creationId="{00000000-0000-0000-0000-000000000000}"/>
    </ac:deMkLst>
    <p188:txBody>
      <a:bodyPr/>
      <a:lstStyle/>
      <a:p>
        <a:r>
          <a:rPr lang="en-US"/>
          <a:t>Recriar equacoes LaTeX com um add-in de forma a serem editaveis</a:t>
        </a:r>
      </a:p>
    </p188:txBody>
  </p188:cm>
  <p188:cm id="{6BF70318-8AFA-4BAF-A846-91596F1D2132}" authorId="{86AEF6EC-261E-6E1E-54B8-F3B4555E2360}" created="2026-07-13T15:41:00.178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Por alguma razao, esta equacao nao esta a aparecer. Investigar e resolver este problema...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02ADC-6E4A-4441-85AF-3119E79B0129}" type="datetimeFigureOut"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F6B6F-F908-4DEE-A782-4CC6271AAE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0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solidFill>
                  <a:srgbClr val="5A6A7A"/>
                </a:solidFill>
              </a:rPr>
              <a:t>Objective: </a:t>
            </a:r>
            <a:r>
              <a:rPr lang="en-US" i="1" err="1">
                <a:solidFill>
                  <a:srgbClr val="5A6A7A"/>
                </a:solidFill>
              </a:rPr>
              <a:t>maximise</a:t>
            </a:r>
            <a:r>
              <a:rPr lang="en-US" i="1">
                <a:solidFill>
                  <a:srgbClr val="5A6A7A"/>
                </a:solidFill>
              </a:rPr>
              <a:t> collected profit minus travel cost, choosing which nodes y to visit and how x routes them, subject to the vehicle capacity Q.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F6B6F-F908-4DEE-A782-4CC6271AAEE1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6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 Simulation Framework for the Multi-Period Vehicle Routing Problem with Profits in Smart Waste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Afonso Cruz Fernandes¹</a:t>
            </a:r>
          </a:p>
          <a:p>
            <a:pPr>
              <a:spcBef>
                <a:spcPts val="600"/>
              </a:spcBef>
              <a:defRPr sz="1400">
                <a:solidFill>
                  <a:srgbClr val="C9D6E4"/>
                </a:solidFill>
              </a:defRPr>
            </a:pPr>
            <a:r>
              <a:t>with Héctor Bonilla-Londoño², Diana Jorge², Manuel Lopes¹, Pedro A. Santos¹, Tânia Ramos²</a:t>
            </a:r>
          </a:p>
          <a:p>
            <a:pPr>
              <a:spcBef>
                <a:spcPts val="1000"/>
              </a:spcBef>
              <a:defRPr sz="1100" i="1">
                <a:solidFill>
                  <a:srgbClr val="8A9BB0"/>
                </a:solidFill>
              </a:defRPr>
            </a:pPr>
            <a:r>
              <a:t>¹ INESC-ID, Instituto Superior Técnico, University of Lisbon   ·   ² CEGIST, Instituto Superior Técnico, University of Lisbon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BC353C-3F0F-2D9C-8E75-B1642B7C5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34" y="5323438"/>
            <a:ext cx="1806821" cy="1548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B05D31-69C0-AF00-FED6-70DBB3FF2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29" y="136345"/>
            <a:ext cx="2529408" cy="12384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5452E-4802-FB07-DFE9-EF0101932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911" y="5459240"/>
            <a:ext cx="2273272" cy="1262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834DCC-318B-43EF-BF91-43FEF1F97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329" y="5442858"/>
            <a:ext cx="1672443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5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61363"/>
            <a:ext cx="566928" cy="56692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08760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Introduction: Problem and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2062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3034665"/>
            <a:ext cx="566928" cy="566928"/>
          </a:xfrm>
          <a:prstGeom prst="ellipse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2062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Simulator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55364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B0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" y="4307967"/>
            <a:ext cx="566928" cy="566928"/>
          </a:xfrm>
          <a:prstGeom prst="ellipse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55364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Mandatory Node Selection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8666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8E3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3232" y="5581269"/>
            <a:ext cx="566928" cy="566928"/>
          </a:xfrm>
          <a:prstGeom prst="ellipse">
            <a:avLst/>
          </a:prstGeom>
          <a:solidFill>
            <a:srgbClr val="8E3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28666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Route Constructors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508760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3319" y="1761363"/>
            <a:ext cx="566928" cy="56692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1508760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Route Improvers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782062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43319" y="3034665"/>
            <a:ext cx="566928" cy="566928"/>
          </a:xfrm>
          <a:prstGeom prst="ellipse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127" y="2782062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Experimental Methodology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055364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B0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3319" y="4307967"/>
            <a:ext cx="566928" cy="566928"/>
          </a:xfrm>
          <a:prstGeom prst="ellipse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27" y="4055364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Experimental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5328666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8E3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3319" y="5581269"/>
            <a:ext cx="566928" cy="566928"/>
          </a:xfrm>
          <a:prstGeom prst="ellipse">
            <a:avLst/>
          </a:prstGeom>
          <a:solidFill>
            <a:srgbClr val="8E3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3127" y="5328666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Conclusions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2965110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Problem: Vehicle Routing Problem with Profits (VRPP)</a:t>
            </a:r>
          </a:p>
        </p:txBody>
      </p:sp>
      <p:pic>
        <p:nvPicPr>
          <p:cNvPr id="7" name="Picture 6" descr="vrpp_illustration.png">
            <a:extLst>
              <a:ext uri="{FF2B5EF4-FFF2-40B4-BE49-F238E27FC236}">
                <a16:creationId xmlns:a16="http://schemas.microsoft.com/office/drawing/2014/main" id="{09F8A198-E9D5-F98E-07C2-8D237B14B5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38" b="152"/>
          <a:stretch>
            <a:fillRect/>
          </a:stretch>
        </p:blipFill>
        <p:spPr>
          <a:xfrm>
            <a:off x="6390636" y="1136136"/>
            <a:ext cx="5284118" cy="4774283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C4657673-0C5C-05F8-7F72-50A6B80026A5}"/>
              </a:ext>
            </a:extLst>
          </p:cNvPr>
          <p:cNvSpPr txBox="1"/>
          <p:nvPr/>
        </p:nvSpPr>
        <p:spPr>
          <a:xfrm>
            <a:off x="548640" y="4297679"/>
            <a:ext cx="573008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i="1">
                <a:solidFill>
                  <a:srgbClr val="5A6A7A"/>
                </a:solidFill>
              </a:rPr>
              <a:t>Bin fill </a:t>
            </a:r>
            <a:r>
              <a:rPr lang="en-US" sz="1100" i="1" err="1">
                <a:solidFill>
                  <a:srgbClr val="5A6A7A"/>
                </a:solidFill>
              </a:rPr>
              <a:t>w_i,d</a:t>
            </a:r>
            <a:r>
              <a:rPr sz="1100" i="1">
                <a:solidFill>
                  <a:srgbClr val="5A6A7A"/>
                </a:solidFill>
              </a:rPr>
              <a:t> accumulates stochastically (rate δ) and resets on a visit. Daily profit P nets collected-waste revenue </a:t>
            </a:r>
            <a:r>
              <a:rPr lang="en-US" sz="1100" i="1" err="1">
                <a:solidFill>
                  <a:srgbClr val="5A6A7A"/>
                </a:solidFill>
              </a:rPr>
              <a:t>r_w</a:t>
            </a:r>
            <a:r>
              <a:rPr sz="1100" i="1">
                <a:solidFill>
                  <a:srgbClr val="5A6A7A"/>
                </a:solidFill>
              </a:rPr>
              <a:t> against travel cost </a:t>
            </a:r>
            <a:r>
              <a:rPr lang="en-US" sz="1100" i="1" err="1">
                <a:solidFill>
                  <a:srgbClr val="5A6A7A"/>
                </a:solidFill>
              </a:rPr>
              <a:t>c_km</a:t>
            </a:r>
            <a:r>
              <a:rPr sz="1100" i="1">
                <a:solidFill>
                  <a:srgbClr val="5A6A7A"/>
                </a:solidFill>
              </a:rPr>
              <a:t> along the chosen route </a:t>
            </a:r>
            <a:r>
              <a:rPr lang="en-US" sz="1100" i="1" err="1">
                <a:solidFill>
                  <a:srgbClr val="5A6A7A"/>
                </a:solidFill>
              </a:rPr>
              <a:t>A_d</a:t>
            </a:r>
            <a:r>
              <a:rPr sz="1100" i="1">
                <a:solidFill>
                  <a:srgbClr val="5A6A7A"/>
                </a:solidFill>
              </a:rPr>
              <a:t>. The policy π must </a:t>
            </a:r>
            <a:r>
              <a:rPr lang="en-US" sz="1100" i="1" err="1">
                <a:solidFill>
                  <a:srgbClr val="5A6A7A"/>
                </a:solidFill>
              </a:rPr>
              <a:t>maximise</a:t>
            </a:r>
            <a:r>
              <a:rPr sz="1100" i="1">
                <a:solidFill>
                  <a:srgbClr val="5A6A7A"/>
                </a:solidFill>
              </a:rPr>
              <a:t> the expected profit summed over the full D-day horizon.</a:t>
            </a: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9D7B96BB-D343-2C99-7E6B-7A1004DBE41E}"/>
              </a:ext>
            </a:extLst>
          </p:cNvPr>
          <p:cNvSpPr/>
          <p:nvPr/>
        </p:nvSpPr>
        <p:spPr>
          <a:xfrm>
            <a:off x="548640" y="1143000"/>
            <a:ext cx="5730087" cy="2971799"/>
          </a:xfrm>
          <a:prstGeom prst="round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endParaRPr lang="en-GB"/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Objective</a:t>
            </a:r>
            <a:r>
              <a:rPr lang="en-GB"/>
              <a:t>:</a:t>
            </a:r>
            <a:r>
              <a:t> </a:t>
            </a:r>
            <a:r>
              <a:rPr lang="en-GB" sz="2800" b="1"/>
              <a:t>Build a simulator to test different algorithms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4854" y="3893457"/>
            <a:ext cx="3484778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Exact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854" y="4579257"/>
            <a:ext cx="3484778" cy="928116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BPC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854" y="5617101"/>
            <a:ext cx="3484778" cy="928116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SWC-TCF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672" y="3893457"/>
            <a:ext cx="3484778" cy="548640"/>
          </a:xfrm>
          <a:prstGeom prst="round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Meta-Heuristics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672" y="4579257"/>
            <a:ext cx="3484778" cy="305409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HGS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672" y="4994394"/>
            <a:ext cx="3484778" cy="305409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ALNS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672" y="5409531"/>
            <a:ext cx="3484778" cy="305409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SANS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672" y="5824668"/>
            <a:ext cx="3484778" cy="305409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PG-CLNS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672" y="6239805"/>
            <a:ext cx="3484778" cy="305409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PSOMA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4490" y="3893457"/>
            <a:ext cx="3484778" cy="548640"/>
          </a:xfrm>
          <a:prstGeom prst="roundRect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Hyper-Heuristics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4490" y="4579257"/>
            <a:ext cx="3484778" cy="196596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B0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ACO-HH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AA46C8F5-8B13-3089-AA23-9B8DBED932BE}"/>
              </a:ext>
            </a:extLst>
          </p:cNvPr>
          <p:cNvSpPr/>
          <p:nvPr/>
        </p:nvSpPr>
        <p:spPr>
          <a:xfrm>
            <a:off x="1882472" y="1637867"/>
            <a:ext cx="1304152" cy="418182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200"/>
              <a:t>Exact Methods</a:t>
            </a: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397C6990-E34A-196A-95CE-3F9E81EE407A}"/>
              </a:ext>
            </a:extLst>
          </p:cNvPr>
          <p:cNvSpPr/>
          <p:nvPr/>
        </p:nvSpPr>
        <p:spPr>
          <a:xfrm>
            <a:off x="1882472" y="2207759"/>
            <a:ext cx="1304152" cy="548640"/>
          </a:xfrm>
          <a:prstGeom prst="round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200"/>
              <a:t>Meta-Heuristics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E87C94-A878-A95B-97B1-2AAFFF980F1D}"/>
              </a:ext>
            </a:extLst>
          </p:cNvPr>
          <p:cNvSpPr/>
          <p:nvPr/>
        </p:nvSpPr>
        <p:spPr>
          <a:xfrm>
            <a:off x="4617072" y="1558196"/>
            <a:ext cx="2218293" cy="1870803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/>
          </a:p>
          <a:p>
            <a:pPr algn="ctr"/>
            <a:r>
              <a:rPr lang="en-GB" sz="2000"/>
              <a:t>One Shared Simulator </a:t>
            </a:r>
          </a:p>
          <a:p>
            <a:pPr algn="ctr"/>
            <a:r>
              <a:rPr lang="en-GB" sz="1400"/>
              <a:t>Multi-day simulator: region × graph size × demand distribution</a:t>
            </a:r>
          </a:p>
          <a:p>
            <a:pPr algn="ctr"/>
            <a:endParaRPr lang="en-GB"/>
          </a:p>
        </p:txBody>
      </p: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6A795764-A1EE-90B4-6F2A-30B99ED842B6}"/>
              </a:ext>
            </a:extLst>
          </p:cNvPr>
          <p:cNvSpPr/>
          <p:nvPr/>
        </p:nvSpPr>
        <p:spPr>
          <a:xfrm>
            <a:off x="1882472" y="2888968"/>
            <a:ext cx="1304152" cy="548640"/>
          </a:xfrm>
          <a:prstGeom prst="roundRect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200"/>
              <a:t>Hyper-Heuristics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743E8E-DA0C-3BC6-8553-94C034383AE4}"/>
              </a:ext>
            </a:extLst>
          </p:cNvPr>
          <p:cNvSpPr/>
          <p:nvPr/>
        </p:nvSpPr>
        <p:spPr>
          <a:xfrm>
            <a:off x="7874450" y="1973022"/>
            <a:ext cx="1430448" cy="10411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Fair Benchmarks (KPIs)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035231-034D-77B6-03D0-5C31D5D824C2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3186624" y="1846958"/>
            <a:ext cx="1430448" cy="646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471849-6580-456C-2F80-712330E7CBC3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3186624" y="2482079"/>
            <a:ext cx="1430448" cy="1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4FA5162-2E53-846E-65BB-726C5C0ED4E5}"/>
              </a:ext>
            </a:extLst>
          </p:cNvPr>
          <p:cNvCxnSpPr>
            <a:cxnSpLocks/>
            <a:stCxn id="28" idx="3"/>
            <a:endCxn id="24" idx="1"/>
          </p:cNvCxnSpPr>
          <p:nvPr/>
        </p:nvCxnSpPr>
        <p:spPr>
          <a:xfrm flipV="1">
            <a:off x="3186624" y="2493598"/>
            <a:ext cx="1430448" cy="669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29DE95-3CF9-6BBD-7918-DC548B156B6A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 flipV="1">
            <a:off x="6835365" y="2493597"/>
            <a:ext cx="10390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E51F10-1B5E-3F0F-9429-80A89682754D}"/>
              </a:ext>
            </a:extLst>
          </p:cNvPr>
          <p:cNvSpPr txBox="1"/>
          <p:nvPr/>
        </p:nvSpPr>
        <p:spPr>
          <a:xfrm>
            <a:off x="3772896" y="1135677"/>
            <a:ext cx="5151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1F2D3D"/>
                </a:solidFill>
              </a:rPr>
              <a:t>One framework to compare them all</a:t>
            </a:r>
          </a:p>
        </p:txBody>
      </p:sp>
    </p:spTree>
    <p:extLst>
      <p:ext uri="{BB962C8B-B14F-4D97-AF65-F5344CB8AC3E}">
        <p14:creationId xmlns:p14="http://schemas.microsoft.com/office/powerpoint/2010/main" val="123882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Routing Simulator Philosophy — Modular Policy Pipeline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1737360"/>
            <a:ext cx="2647873" cy="1371600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Mandatory bin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selection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26478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L</a:t>
            </a:r>
            <a:r>
              <a:rPr lang="en-GB"/>
              <a:t>A</a:t>
            </a:r>
            <a:r>
              <a:t> · LM · SL</a:t>
            </a:r>
          </a:p>
          <a:p>
            <a:pPr algn="ctr">
              <a:defRPr sz="1400">
                <a:solidFill>
                  <a:srgbClr val="5A6A7A"/>
                </a:solidFill>
              </a:defRPr>
            </a:pPr>
            <a:r>
              <a:t>which bins today?</a:t>
            </a:r>
          </a:p>
        </p:txBody>
      </p:sp>
      <p:sp>
        <p:nvSpPr>
          <p:cNvPr id="5" name="Chevron 4"/>
          <p:cNvSpPr/>
          <p:nvPr/>
        </p:nvSpPr>
        <p:spPr>
          <a:xfrm>
            <a:off x="3333673" y="1737360"/>
            <a:ext cx="2647873" cy="1371600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constructor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673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exact · meta-h. · hyper-h.</a:t>
            </a:r>
          </a:p>
          <a:p>
            <a:pPr algn="ctr">
              <a:defRPr sz="1400">
                <a:solidFill>
                  <a:srgbClr val="5A6A7A"/>
                </a:solidFill>
              </a:defRPr>
            </a:pPr>
            <a:r>
              <a:t>build the routes</a:t>
            </a:r>
          </a:p>
        </p:txBody>
      </p:sp>
      <p:sp>
        <p:nvSpPr>
          <p:cNvPr id="7" name="Chevron 6"/>
          <p:cNvSpPr/>
          <p:nvPr/>
        </p:nvSpPr>
        <p:spPr>
          <a:xfrm>
            <a:off x="6210146" y="1737360"/>
            <a:ext cx="2647873" cy="1371600"/>
          </a:xfrm>
          <a:prstGeom prst="chevron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Acceptance criterion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6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constructor-dependent</a:t>
            </a:r>
          </a:p>
          <a:p>
            <a:pPr algn="ctr">
              <a:defRPr sz="1400">
                <a:solidFill>
                  <a:srgbClr val="5A6A7A"/>
                </a:solidFill>
              </a:defRPr>
            </a:pPr>
            <a:r>
              <a:t>e.g. BMC, OI</a:t>
            </a:r>
          </a:p>
        </p:txBody>
      </p:sp>
      <p:sp>
        <p:nvSpPr>
          <p:cNvPr id="9" name="Chevron 8"/>
          <p:cNvSpPr/>
          <p:nvPr/>
        </p:nvSpPr>
        <p:spPr>
          <a:xfrm>
            <a:off x="9086619" y="1737360"/>
            <a:ext cx="2647873" cy="1371600"/>
          </a:xfrm>
          <a:prstGeom prst="chevron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 improver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6619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CLS · FTSP</a:t>
            </a:r>
          </a:p>
          <a:p>
            <a:pPr algn="ctr">
              <a:defRPr sz="1400">
                <a:solidFill>
                  <a:srgbClr val="5A6A7A"/>
                </a:solidFill>
              </a:defRPr>
            </a:pPr>
            <a:r>
              <a:t>post-optimisation</a:t>
            </a:r>
          </a:p>
        </p:txBody>
      </p:sp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360D2403-3282-B757-336F-2C87556AB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11" y="4491623"/>
            <a:ext cx="452339" cy="6424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B2C3DE0-0B23-52A3-962A-CDF076C76DD3}"/>
              </a:ext>
            </a:extLst>
          </p:cNvPr>
          <p:cNvSpPr/>
          <p:nvPr/>
        </p:nvSpPr>
        <p:spPr>
          <a:xfrm>
            <a:off x="990197" y="4820590"/>
            <a:ext cx="4106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87%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D502DB08-461E-E836-556B-ABABD8E6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0" y="4936953"/>
            <a:ext cx="452339" cy="64241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58AF3B-8981-93A5-1BF8-36A5AEAB42D9}"/>
              </a:ext>
            </a:extLst>
          </p:cNvPr>
          <p:cNvSpPr/>
          <p:nvPr/>
        </p:nvSpPr>
        <p:spPr>
          <a:xfrm>
            <a:off x="406554" y="5265920"/>
            <a:ext cx="4267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60%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CC68D463-EBD2-228C-674F-4B56D9BB8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64" y="5652400"/>
            <a:ext cx="452339" cy="64241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5F50B5F-19B3-3A80-A0CC-41872CA8F7E1}"/>
              </a:ext>
            </a:extLst>
          </p:cNvPr>
          <p:cNvSpPr/>
          <p:nvPr/>
        </p:nvSpPr>
        <p:spPr>
          <a:xfrm>
            <a:off x="654266" y="5981367"/>
            <a:ext cx="4203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42%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99C866B2-80AA-33D7-BD04-AEBB54A0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79" y="5120463"/>
            <a:ext cx="452339" cy="64241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6317E08-3B8D-B62F-EC88-0E24207C6823}"/>
              </a:ext>
            </a:extLst>
          </p:cNvPr>
          <p:cNvSpPr/>
          <p:nvPr/>
        </p:nvSpPr>
        <p:spPr>
          <a:xfrm>
            <a:off x="1291681" y="5449430"/>
            <a:ext cx="42351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50%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E272EF38-46C0-3374-D57A-423B970A6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03" y="4179001"/>
            <a:ext cx="452339" cy="64241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48CA0BE-9500-4561-051E-913826E11922}"/>
              </a:ext>
            </a:extLst>
          </p:cNvPr>
          <p:cNvSpPr/>
          <p:nvPr/>
        </p:nvSpPr>
        <p:spPr>
          <a:xfrm>
            <a:off x="1419347" y="4507968"/>
            <a:ext cx="42511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30%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67999F23-8F95-423A-EE8B-1979BDAA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31" y="4675188"/>
            <a:ext cx="452339" cy="64241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B86987F-9020-6F93-C769-10D0BF35FD95}"/>
              </a:ext>
            </a:extLst>
          </p:cNvPr>
          <p:cNvSpPr/>
          <p:nvPr/>
        </p:nvSpPr>
        <p:spPr>
          <a:xfrm>
            <a:off x="1893933" y="5004154"/>
            <a:ext cx="4267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80%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D16DCBE0-345E-433C-8295-64971D2D3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54" y="5724292"/>
            <a:ext cx="452339" cy="64241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5B20E62-42C3-F552-D61C-40FA7B387BE4}"/>
              </a:ext>
            </a:extLst>
          </p:cNvPr>
          <p:cNvSpPr/>
          <p:nvPr/>
        </p:nvSpPr>
        <p:spPr>
          <a:xfrm>
            <a:off x="2218298" y="6053259"/>
            <a:ext cx="42511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20%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EAF3BD8C-A9C9-9EEA-F247-0EABE0943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71" y="4878531"/>
            <a:ext cx="452339" cy="64241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457CC5D-C768-CEFF-B277-F04EDC93254B}"/>
              </a:ext>
            </a:extLst>
          </p:cNvPr>
          <p:cNvSpPr/>
          <p:nvPr/>
        </p:nvSpPr>
        <p:spPr>
          <a:xfrm>
            <a:off x="2619715" y="5207498"/>
            <a:ext cx="4171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55%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36" name="Picture 35" descr="A close up of a logo&#10;&#10;Description automatically generated">
            <a:extLst>
              <a:ext uri="{FF2B5EF4-FFF2-40B4-BE49-F238E27FC236}">
                <a16:creationId xmlns:a16="http://schemas.microsoft.com/office/drawing/2014/main" id="{13DCD0CE-9542-D51E-AFF7-9CFA7DA26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247" y="4296037"/>
            <a:ext cx="452339" cy="64241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F18FD58-BAC8-7A16-EE95-F1FAA556A847}"/>
              </a:ext>
            </a:extLst>
          </p:cNvPr>
          <p:cNvSpPr/>
          <p:nvPr/>
        </p:nvSpPr>
        <p:spPr>
          <a:xfrm>
            <a:off x="6806633" y="4625004"/>
            <a:ext cx="4106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87%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38" name="Picture 37" descr="A close up of a logo&#10;&#10;Description automatically generated">
            <a:extLst>
              <a:ext uri="{FF2B5EF4-FFF2-40B4-BE49-F238E27FC236}">
                <a16:creationId xmlns:a16="http://schemas.microsoft.com/office/drawing/2014/main" id="{897F75DB-7ED2-F569-F94F-0C6E5E55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46" y="4741367"/>
            <a:ext cx="452339" cy="64241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5EA34D1-4E8B-16B3-1177-3D0A788FED02}"/>
              </a:ext>
            </a:extLst>
          </p:cNvPr>
          <p:cNvSpPr/>
          <p:nvPr/>
        </p:nvSpPr>
        <p:spPr>
          <a:xfrm>
            <a:off x="6222990" y="5070334"/>
            <a:ext cx="4267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60%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40" name="Picture 39" descr="A close up of a logo&#10;&#10;Description automatically generated">
            <a:extLst>
              <a:ext uri="{FF2B5EF4-FFF2-40B4-BE49-F238E27FC236}">
                <a16:creationId xmlns:a16="http://schemas.microsoft.com/office/drawing/2014/main" id="{26E88D41-11D8-101D-4322-78D754756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400" y="5456814"/>
            <a:ext cx="452339" cy="64241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6FE8838-5D5A-5947-F765-C114059293DF}"/>
              </a:ext>
            </a:extLst>
          </p:cNvPr>
          <p:cNvSpPr/>
          <p:nvPr/>
        </p:nvSpPr>
        <p:spPr>
          <a:xfrm>
            <a:off x="6470702" y="5785781"/>
            <a:ext cx="4203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42%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42" name="Picture 41" descr="A close up of a logo&#10;&#10;Description automatically generated">
            <a:extLst>
              <a:ext uri="{FF2B5EF4-FFF2-40B4-BE49-F238E27FC236}">
                <a16:creationId xmlns:a16="http://schemas.microsoft.com/office/drawing/2014/main" id="{EB98B76F-4FBE-C3DD-F8C0-79154982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815" y="4924877"/>
            <a:ext cx="452339" cy="64241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9010409-0C04-A446-55C8-99C202A656D6}"/>
              </a:ext>
            </a:extLst>
          </p:cNvPr>
          <p:cNvSpPr/>
          <p:nvPr/>
        </p:nvSpPr>
        <p:spPr>
          <a:xfrm>
            <a:off x="7108117" y="5253844"/>
            <a:ext cx="42351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50%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44" name="Picture 43" descr="A close up of a logo&#10;&#10;Description automatically generated">
            <a:extLst>
              <a:ext uri="{FF2B5EF4-FFF2-40B4-BE49-F238E27FC236}">
                <a16:creationId xmlns:a16="http://schemas.microsoft.com/office/drawing/2014/main" id="{17C31E9B-E745-ACCA-0B40-1BD02120B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939" y="3983415"/>
            <a:ext cx="452339" cy="642417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BFA8404-DD47-2D38-6F58-DA54AACA5A38}"/>
              </a:ext>
            </a:extLst>
          </p:cNvPr>
          <p:cNvSpPr/>
          <p:nvPr/>
        </p:nvSpPr>
        <p:spPr>
          <a:xfrm>
            <a:off x="7235783" y="4312382"/>
            <a:ext cx="42511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30%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46" name="Picture 45" descr="A close up of a logo&#10;&#10;Description automatically generated">
            <a:extLst>
              <a:ext uri="{FF2B5EF4-FFF2-40B4-BE49-F238E27FC236}">
                <a16:creationId xmlns:a16="http://schemas.microsoft.com/office/drawing/2014/main" id="{C6E0E680-0226-B190-A29B-9FABEC2C3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067" y="4479602"/>
            <a:ext cx="452339" cy="642417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0C610A7-1524-0C61-25D6-DD153304964D}"/>
              </a:ext>
            </a:extLst>
          </p:cNvPr>
          <p:cNvSpPr/>
          <p:nvPr/>
        </p:nvSpPr>
        <p:spPr>
          <a:xfrm>
            <a:off x="7710369" y="4808568"/>
            <a:ext cx="42672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80%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48" name="Picture 47" descr="A close up of a logo&#10;&#10;Description automatically generated">
            <a:extLst>
              <a:ext uri="{FF2B5EF4-FFF2-40B4-BE49-F238E27FC236}">
                <a16:creationId xmlns:a16="http://schemas.microsoft.com/office/drawing/2014/main" id="{10E626E9-8CC7-96E7-59C1-BFABE231E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890" y="5528706"/>
            <a:ext cx="452339" cy="642417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174582D3-7AAA-C49D-A312-32B70588D496}"/>
              </a:ext>
            </a:extLst>
          </p:cNvPr>
          <p:cNvSpPr/>
          <p:nvPr/>
        </p:nvSpPr>
        <p:spPr>
          <a:xfrm>
            <a:off x="8034734" y="5857673"/>
            <a:ext cx="42511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20%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50" name="Picture 49" descr="A close up of a logo&#10;&#10;Description automatically generated">
            <a:extLst>
              <a:ext uri="{FF2B5EF4-FFF2-40B4-BE49-F238E27FC236}">
                <a16:creationId xmlns:a16="http://schemas.microsoft.com/office/drawing/2014/main" id="{AABB6AD0-AF41-C683-57CA-1CDEE778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307" y="4682945"/>
            <a:ext cx="452339" cy="642417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1AB02675-45FF-DC90-7D41-5F477F4DA55A}"/>
              </a:ext>
            </a:extLst>
          </p:cNvPr>
          <p:cNvSpPr/>
          <p:nvPr/>
        </p:nvSpPr>
        <p:spPr>
          <a:xfrm>
            <a:off x="8436151" y="5011912"/>
            <a:ext cx="4171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00" b="1">
                <a:solidFill>
                  <a:schemeClr val="bg1"/>
                </a:solidFill>
                <a:latin typeface="Oswald Light" pitchFamily="2" charset="0"/>
              </a:rPr>
              <a:t>55%</a:t>
            </a:r>
            <a:endParaRPr lang="en-GB" sz="1000" b="1">
              <a:solidFill>
                <a:schemeClr val="bg1"/>
              </a:solidFill>
              <a:latin typeface="Oswald Light" pitchFamily="2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7B8376F-549F-1134-FA42-11D5492B7967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7319874" y="5515454"/>
            <a:ext cx="198726" cy="69147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A close up of a sign&#10;&#10;Description automatically generated">
            <a:extLst>
              <a:ext uri="{FF2B5EF4-FFF2-40B4-BE49-F238E27FC236}">
                <a16:creationId xmlns:a16="http://schemas.microsoft.com/office/drawing/2014/main" id="{6824AD8D-5EE2-CB3F-9160-72C141B9F2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40640" y="6101928"/>
            <a:ext cx="1125404" cy="861834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211573D-0342-11B7-C94B-7524F18D6CB2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588260" y="4262147"/>
            <a:ext cx="340977" cy="21745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0C8A4A8-92BC-6617-56F0-DEE60BE5948C}"/>
              </a:ext>
            </a:extLst>
          </p:cNvPr>
          <p:cNvCxnSpPr>
            <a:cxnSpLocks/>
          </p:cNvCxnSpPr>
          <p:nvPr/>
        </p:nvCxnSpPr>
        <p:spPr>
          <a:xfrm flipH="1" flipV="1">
            <a:off x="6624802" y="5201139"/>
            <a:ext cx="482814" cy="1446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DA98FF-B7F9-9F8D-2453-24F2E055D4BD}"/>
              </a:ext>
            </a:extLst>
          </p:cNvPr>
          <p:cNvCxnSpPr>
            <a:cxnSpLocks/>
            <a:stCxn id="38" idx="0"/>
            <a:endCxn id="36" idx="1"/>
          </p:cNvCxnSpPr>
          <p:nvPr/>
        </p:nvCxnSpPr>
        <p:spPr>
          <a:xfrm flipV="1">
            <a:off x="6436316" y="4617246"/>
            <a:ext cx="351931" cy="12412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F8894A-3175-221E-0591-700B3206EE81}"/>
              </a:ext>
            </a:extLst>
          </p:cNvPr>
          <p:cNvCxnSpPr>
            <a:cxnSpLocks/>
          </p:cNvCxnSpPr>
          <p:nvPr/>
        </p:nvCxnSpPr>
        <p:spPr>
          <a:xfrm flipV="1">
            <a:off x="7046616" y="4176065"/>
            <a:ext cx="206814" cy="13325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15B1577-18D0-356B-1358-52E730860260}"/>
              </a:ext>
            </a:extLst>
          </p:cNvPr>
          <p:cNvCxnSpPr>
            <a:cxnSpLocks/>
          </p:cNvCxnSpPr>
          <p:nvPr/>
        </p:nvCxnSpPr>
        <p:spPr>
          <a:xfrm flipH="1">
            <a:off x="7737659" y="5097961"/>
            <a:ext cx="128064" cy="110896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67B7475-0AB3-206D-2566-C9CAC0B02D47}"/>
              </a:ext>
            </a:extLst>
          </p:cNvPr>
          <p:cNvSpPr/>
          <p:nvPr/>
        </p:nvSpPr>
        <p:spPr>
          <a:xfrm>
            <a:off x="905443" y="4481943"/>
            <a:ext cx="548013" cy="693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5E89872A-54E2-8131-F936-073A9B80CA09}"/>
              </a:ext>
            </a:extLst>
          </p:cNvPr>
          <p:cNvSpPr/>
          <p:nvPr/>
        </p:nvSpPr>
        <p:spPr>
          <a:xfrm rot="5400000">
            <a:off x="7294251" y="-177302"/>
            <a:ext cx="295322" cy="80033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59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7" grpId="0"/>
      <p:bldP spid="39" grpId="0"/>
      <p:bldP spid="41" grpId="0"/>
      <p:bldP spid="43" grpId="0"/>
      <p:bldP spid="45" grpId="0"/>
      <p:bldP spid="47" grpId="0"/>
      <p:bldP spid="49" grpId="0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Big Picture: Policy Configuration Space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3515258" cy="50292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Mandatory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Look-Ahead (LA)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3977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Last-Minute (LM, CF70)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36314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Last-Minute (LM, CF90)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08651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Service-Level (SL1)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80988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Service-Level (SL2)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051560"/>
            <a:ext cx="3515258" cy="50292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 Constructor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691640"/>
            <a:ext cx="3515258" cy="1325880"/>
          </a:xfrm>
          <a:prstGeom prst="rect">
            <a:avLst/>
          </a:prstGeom>
          <a:noFill/>
          <a:ln w="12700">
            <a:solidFill>
              <a:srgbClr val="5A6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E74B5"/>
                </a:solidFill>
              </a:defRPr>
            </a:pPr>
            <a:r>
              <a:t>Exact Methods</a:t>
            </a:r>
          </a:p>
          <a:p>
            <a:pPr algn="ctr">
              <a:defRPr sz="1100">
                <a:solidFill>
                  <a:srgbClr val="1F2D3D"/>
                </a:solidFill>
              </a:defRPr>
            </a:pPr>
            <a:r>
              <a:t>BPC  ·  SWC-TCF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3154680"/>
            <a:ext cx="3515258" cy="1325880"/>
          </a:xfrm>
          <a:prstGeom prst="rect">
            <a:avLst/>
          </a:prstGeom>
          <a:noFill/>
          <a:ln w="12700">
            <a:solidFill>
              <a:srgbClr val="5A6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E74B5"/>
                </a:solidFill>
              </a:defRPr>
            </a:pPr>
            <a:r>
              <a:t>Meta-Heuristics</a:t>
            </a:r>
          </a:p>
          <a:p>
            <a:pPr algn="ctr">
              <a:defRPr sz="1100">
                <a:solidFill>
                  <a:srgbClr val="1F2D3D"/>
                </a:solidFill>
              </a:defRPr>
            </a:pPr>
            <a:r>
              <a:t>HGS  ·  ALNS  ·  SANS  ·  PG-CLNS  ·  PSOMA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4617720"/>
            <a:ext cx="3515258" cy="1325880"/>
          </a:xfrm>
          <a:prstGeom prst="rect">
            <a:avLst/>
          </a:prstGeom>
          <a:noFill/>
          <a:ln w="12700">
            <a:solidFill>
              <a:srgbClr val="5A6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E74B5"/>
                </a:solidFill>
              </a:defRPr>
            </a:pPr>
            <a:r>
              <a:t>Hyper-Heuristics</a:t>
            </a:r>
          </a:p>
          <a:p>
            <a:pPr algn="ctr">
              <a:defRPr sz="1100">
                <a:solidFill>
                  <a:srgbClr val="1F2D3D"/>
                </a:solidFill>
              </a:defRPr>
            </a:pPr>
            <a:r>
              <a:t>ACO-HH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051560"/>
            <a:ext cx="3515258" cy="50292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 Improver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91640"/>
            <a:ext cx="3515258" cy="2071116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Fast-TSP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3872484"/>
            <a:ext cx="3515258" cy="2071116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Local Search (CLS)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2: </a:t>
            </a:r>
            <a:r>
              <a:rPr sz="1100" i="1">
                <a:solidFill>
                  <a:srgbClr val="5A6A7A"/>
                </a:solidFill>
              </a:rPr>
              <a:t>Every simulated policy is one path through the three columns: a mandatory selection strategy, a route constructor (exact / meta-heuristic / hyper-heuristic) and an optional route improver.</a:t>
            </a:r>
          </a:p>
        </p:txBody>
      </p:sp>
    </p:spTree>
    <p:extLst>
      <p:ext uri="{BB962C8B-B14F-4D97-AF65-F5344CB8AC3E}">
        <p14:creationId xmlns:p14="http://schemas.microsoft.com/office/powerpoint/2010/main" val="389351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Mandatory Node Selection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730087" cy="2633472"/>
          </a:xfrm>
          <a:prstGeom prst="round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1520" y="1234440"/>
                <a:ext cx="5364327" cy="1500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Look</m:t>
                      </m:r>
                      <m:r>
                        <m:rPr>
                          <m:nor/>
                        </m:rPr>
                        <a:rPr lang="en-US" i="0"/>
                        <m:t>−</m:t>
                      </m:r>
                      <m:r>
                        <m:rPr>
                          <m:nor/>
                        </m:rPr>
                        <a:rPr lang="en-US" i="0"/>
                        <m:t>Ahead</m:t>
                      </m:r>
                      <m:r>
                        <m:rPr>
                          <m:nor/>
                        </m:rPr>
                        <a:rPr lang="en-US" i="0"/>
                        <m:t> (</m:t>
                      </m:r>
                      <m:r>
                        <m:rPr>
                          <m:nor/>
                        </m:rPr>
                        <a:rPr lang="en-US" i="0"/>
                        <m:t>LA</m:t>
                      </m:r>
                      <m:r>
                        <m:rPr>
                          <m:nor/>
                        </m:rPr>
                        <a:rPr lang="en-US" i="0"/>
                        <m:t>), </m:t>
                      </m:r>
                      <m:r>
                        <m:rPr>
                          <m:nor/>
                        </m:rPr>
                        <a:rPr lang="en-US" i="0"/>
                        <m:t>step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1</m:t>
                      </m:r>
                      <m:r>
                        <m:rPr>
                          <m:nor/>
                        </m:rPr>
                        <a:rPr lang="en-US" i="0"/>
                        <m:t>: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} </m:t>
                      </m:r>
                      <m:r>
                        <m:rPr>
                          <m:nor/>
                        </m:rPr>
                        <a:rPr lang="ar-AE" i="0"/>
                        <m:t>(</m:t>
                      </m:r>
                      <m:r>
                        <m:rPr>
                          <m:nor/>
                        </m:rPr>
                        <a:rPr lang="en-US" i="0"/>
                        <m:t>bins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overflowing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tomorrow</m:t>
                      </m:r>
                      <m:r>
                        <m:rPr>
                          <m:nor/>
                        </m:rPr>
                        <a:rPr lang="en-US" i="0"/>
                        <m:t>)</m:t>
                      </m:r>
                    </m:oMath>
                  </m:oMathPara>
                </a14:m>
                <a:endParaRPr/>
              </a:p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Look</m:t>
                      </m:r>
                      <m:r>
                        <m:rPr>
                          <m:nor/>
                        </m:rPr>
                        <a:rPr lang="en-US" i="0"/>
                        <m:t>−</m:t>
                      </m:r>
                      <m:r>
                        <m:rPr>
                          <m:nor/>
                        </m:rPr>
                        <a:rPr lang="en-US" i="0"/>
                        <m:t>Ahead</m:t>
                      </m:r>
                      <m:r>
                        <m:rPr>
                          <m:nor/>
                        </m:rPr>
                        <a:rPr lang="en-US" i="0"/>
                        <m:t> (</m:t>
                      </m:r>
                      <m:r>
                        <m:rPr>
                          <m:nor/>
                        </m:rPr>
                        <a:rPr lang="en-US" i="0"/>
                        <m:t>LA</m:t>
                      </m:r>
                      <m:r>
                        <m:rPr>
                          <m:nor/>
                        </m:rPr>
                        <a:rPr lang="en-US" i="0"/>
                        <m:t>), </m:t>
                      </m:r>
                      <m:r>
                        <m:rPr>
                          <m:nor/>
                        </m:rPr>
                        <a:rPr lang="en-US" i="0"/>
                        <m:t>step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2</m:t>
                      </m:r>
                      <m:r>
                        <m:rPr>
                          <m:nor/>
                        </m:rPr>
                        <a:rPr lang="en-US" i="0"/>
                        <m:t>: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  </m:t>
                      </m:r>
                      <m:r>
                        <m:rPr>
                          <m:nor/>
                        </m:rPr>
                        <a:rPr lang="en-US" i="0"/>
                        <m:t>bundle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too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if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it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would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overflow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before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0"/>
                        <m:t>’</m:t>
                      </m:r>
                      <m:r>
                        <m:rPr>
                          <m:nor/>
                        </m:rPr>
                        <a:rPr lang="en-US" i="0"/>
                        <m:t>s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next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collection</m:t>
                      </m:r>
                    </m:oMath>
                  </m:oMathPara>
                </a14:m>
                <a:endParaRPr/>
              </a:p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Service</m:t>
                      </m:r>
                      <m:r>
                        <m:rPr>
                          <m:nor/>
                        </m:rPr>
                        <a:rPr lang="en-US" i="0"/>
                        <m:t>−</m:t>
                      </m:r>
                      <m:r>
                        <m:rPr>
                          <m:nor/>
                        </m:rPr>
                        <a:rPr lang="en-US" i="0"/>
                        <m:t>Level</m:t>
                      </m:r>
                      <m:r>
                        <m:rPr>
                          <m:nor/>
                        </m:rPr>
                        <a:rPr lang="en-US" i="0"/>
                        <m:t> (</m:t>
                      </m:r>
                      <m:r>
                        <m:rPr>
                          <m:nor/>
                        </m:rPr>
                        <a:rPr lang="en-US" i="0"/>
                        <m:t>SL</m:t>
                      </m:r>
                      <m:r>
                        <m:rPr>
                          <m:nor/>
                        </m:rPr>
                        <a:rPr lang="en-US" i="0"/>
                        <m:t>):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)+</m:t>
                      </m:r>
                      <m:acc>
                        <m:accPr>
                          <m:chr m:val="‾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 ≥ 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 ⇒ </m:t>
                      </m:r>
                      <m:r>
                        <m:rPr>
                          <m:nor/>
                        </m:rPr>
                        <a:rPr lang="en-US" i="0"/>
                        <m:t>collect</m:t>
                      </m:r>
                    </m:oMath>
                  </m:oMathPara>
                </a14:m>
                <a:endParaRPr/>
              </a:p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Last</m:t>
                      </m:r>
                      <m:r>
                        <m:rPr>
                          <m:nor/>
                        </m:rPr>
                        <a:rPr lang="en-US" i="0"/>
                        <m:t>−</m:t>
                      </m:r>
                      <m:r>
                        <m:rPr>
                          <m:nor/>
                        </m:rPr>
                        <a:rPr lang="en-US" i="0"/>
                        <m:t>Minute</m:t>
                      </m:r>
                      <m:r>
                        <m:rPr>
                          <m:nor/>
                        </m:rPr>
                        <a:rPr lang="en-US" i="0"/>
                        <m:t> (</m:t>
                      </m:r>
                      <m:r>
                        <m:rPr>
                          <m:nor/>
                        </m:rPr>
                        <a:rPr lang="en-US" i="0"/>
                        <m:t>LM</m:t>
                      </m:r>
                      <m:r>
                        <m:rPr>
                          <m:nor/>
                        </m:rPr>
                        <a:rPr lang="en-US" i="0"/>
                        <m:t>):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𝐶𝐹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, 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𝐶𝐹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%, 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%}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34440"/>
                <a:ext cx="5364327" cy="1500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48640" y="3959352"/>
            <a:ext cx="5730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Equation 2: </a:t>
            </a:r>
            <a:r>
              <a:rPr sz="1100" i="1">
                <a:solidFill>
                  <a:srgbClr val="5A6A7A"/>
                </a:solidFill>
              </a:rPr>
              <a:t>Look-Ahead first flags bins that would overflow tomorrow, then simulates forward to also bundle in any bin that would overflow before that same group's next natural collection day — avoiding an extra near-term trip. Service-Level flags a bin once its n-day-ahead worst case (mean fill + z_α standard deviations) crosses capacity τ. Last-Minute simply reacts once the fill ratio f_i crosses a fixed critical threshold CF. Choosing which bins to collect today is itself a knapsack-style decision (right): pick the subset of items that best fits the day's capacity/urgency budget.</a:t>
            </a:r>
          </a:p>
        </p:txBody>
      </p:sp>
      <p:pic>
        <p:nvPicPr>
          <p:cNvPr id="6" name="Picture 5" descr="knapsack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377750"/>
            <a:ext cx="5272887" cy="474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5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Exact Methods: BPC &amp; SWC-TCF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730087" cy="2633472"/>
          </a:xfrm>
          <a:prstGeom prst="round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1520" y="1234440"/>
                <a:ext cx="5364327" cy="2553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,  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nor/>
                        </m:rPr>
                        <a:rPr lang="ar-AE" i="0"/>
                        <m:t>(</m:t>
                      </m:r>
                      <m:r>
                        <m:rPr>
                          <m:nor/>
                        </m:rPr>
                        <a:rPr lang="en-US" i="0"/>
                        <m:t>waste</m:t>
                      </m:r>
                      <m:r>
                        <m:rPr>
                          <m:nor/>
                        </m:rPr>
                        <a:rPr lang="en-US" i="0"/>
                        <m:t> + </m:t>
                      </m:r>
                      <m:r>
                        <m:rPr>
                          <m:nor/>
                        </m:rPr>
                        <a:rPr lang="en-US" i="0"/>
                        <m:t>empty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space</m:t>
                      </m:r>
                      <m:r>
                        <m:rPr>
                          <m:nor/>
                        </m:rPr>
                        <a:rPr lang="en-US" i="0"/>
                        <m:t> = </m:t>
                      </m:r>
                      <m:r>
                        <m:rPr>
                          <m:nor/>
                        </m:rPr>
                        <a:rPr lang="en-US" i="0"/>
                        <m:t>vehicle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capacity</m:t>
                      </m:r>
                      <m:r>
                        <m:rPr>
                          <m:nor/>
                        </m:rPr>
                        <a:rPr lang="en-US" i="0"/>
                        <m:t>, </m:t>
                      </m:r>
                      <m:r>
                        <m:rPr>
                          <m:nor/>
                        </m:rPr>
                        <a:rPr lang="en-US" i="0"/>
                        <m:t>if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arc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used</m:t>
                      </m:r>
                      <m:r>
                        <m:rPr>
                          <m:nor/>
                        </m:rPr>
                        <a:rPr lang="en-US" i="0"/>
                        <m:t>)</m:t>
                      </m:r>
                    </m:oMath>
                  </m:oMathPara>
                </a14:m>
                <a:endParaRPr/>
              </a:p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 − 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  <m:r>
                        <a:rPr>
                          <a:latin typeface="Cambria Math" panose="02040503050406030204" pitchFamily="18" charset="0"/>
                        </a:rPr>
                        <m:t>5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 − 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/>
              </a:p>
              <a:p>
                <a:pPr algn="ctr">
                  <a:defRPr sz="1500">
                    <a:solidFill>
                      <a:srgbClr val="1F2D3D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BPC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master</m:t>
                      </m:r>
                      <m:r>
                        <m:rPr>
                          <m:nor/>
                        </m:rPr>
                        <a:rPr lang="en-US" i="0"/>
                        <m:t>: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 </m:t>
                      </m:r>
                      <m:r>
                        <m:rPr>
                          <m:nor/>
                        </m:rPr>
                        <a:rPr lang="en-US" i="0"/>
                        <m:t>s</m:t>
                      </m:r>
                      <m:r>
                        <m:rPr>
                          <m:nor/>
                        </m:rPr>
                        <a:rPr lang="en-US" i="0"/>
                        <m:t>.</m:t>
                      </m:r>
                      <m:r>
                        <m:rPr>
                          <m:nor/>
                        </m:rPr>
                        <a:rPr lang="en-US" i="0"/>
                        <m:t>t</m:t>
                      </m:r>
                      <m:r>
                        <m:rPr>
                          <m:nor/>
                        </m:rPr>
                        <a:rPr lang="en-US" i="0"/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 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𝑖𝑟</m:t>
                              </m:r>
                            </m:sub>
                          </m:sSub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  ∀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,  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34440"/>
                <a:ext cx="5364327" cy="2553263"/>
              </a:xfrm>
              <a:prstGeom prst="rect">
                <a:avLst/>
              </a:prstGeom>
              <a:blipFill>
                <a:blip r:embed="rId2"/>
                <a:stretch>
                  <a:fillRect b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48640" y="3959352"/>
            <a:ext cx="5730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Equation 3: </a:t>
            </a:r>
            <a:r>
              <a:rPr sz="1100" i="1">
                <a:solidFill>
                  <a:srgbClr val="5A6A7A"/>
                </a:solidFill>
              </a:rPr>
              <a:t>SWC-TCF's two-commodity flow (Ramos, Morais &amp; Barbosa-Póvoa, 2018): g_i marks a visited bin and x_ij the routing arcs; the waste commodity f_ij and the empty-space commodity h_ij are coupled to the vehicle capacity Q along every used arc. BPC instead solves a column-generation master problem (Barnhart et al., 1998): pick a minimum-cost combination of priced routes r ∈ Ω (weight λ_r) covering every node i exactly once (a_ir = 1 iff route r visits i), pricing new columns and adding cuts at every Branch-and-Bound node.</a:t>
            </a:r>
          </a:p>
        </p:txBody>
      </p:sp>
      <p:pic>
        <p:nvPicPr>
          <p:cNvPr id="6" name="Picture 5" descr="bb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80360"/>
            <a:ext cx="5272887" cy="39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6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Meta-Heuristics &amp; Hyper-Heuristics — Overarching Philosophy</a:t>
            </a:r>
          </a:p>
        </p:txBody>
      </p:sp>
      <p:pic>
        <p:nvPicPr>
          <p:cNvPr id="3" name="Picture 2" descr="metaheuristi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10" y="1051560"/>
            <a:ext cx="4856407" cy="2468880"/>
          </a:xfrm>
          <a:prstGeom prst="rect">
            <a:avLst/>
          </a:prstGeom>
        </p:spPr>
      </p:pic>
      <p:pic>
        <p:nvPicPr>
          <p:cNvPr id="4" name="Picture 3" descr="hyperheuristic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977" y="1051560"/>
            <a:ext cx="4856407" cy="2468880"/>
          </a:xfrm>
          <a:prstGeom prst="rect">
            <a:avLst/>
          </a:prstGeom>
        </p:spPr>
      </p:pic>
      <p:pic>
        <p:nvPicPr>
          <p:cNvPr id="5" name="Picture 4" descr="trajectory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35" y="3657600"/>
            <a:ext cx="3115757" cy="2468880"/>
          </a:xfrm>
          <a:prstGeom prst="rect">
            <a:avLst/>
          </a:prstGeom>
        </p:spPr>
      </p:pic>
      <p:pic>
        <p:nvPicPr>
          <p:cNvPr id="6" name="Picture 5" descr="population_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977" y="3657600"/>
            <a:ext cx="4856407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3: </a:t>
            </a:r>
            <a:r>
              <a:rPr sz="1100" i="1">
                <a:solidFill>
                  <a:srgbClr val="5A6A7A"/>
                </a:solidFill>
              </a:rPr>
              <a:t>Meta-heuristics (HGS, PSOMA, SANS, PG-CLNS, ALNS) search the solution space directly; the hyper-heuristic (ACO-HH) instead searches the space of low-level heuristics. Within meta-heuristics, trajectory-based methods refine one incumbent solution while population-based methods evolve many candidates in parallel.</a:t>
            </a:r>
          </a:p>
        </p:txBody>
      </p:sp>
    </p:spTree>
    <p:extLst>
      <p:ext uri="{BB962C8B-B14F-4D97-AF65-F5344CB8AC3E}">
        <p14:creationId xmlns:p14="http://schemas.microsoft.com/office/powerpoint/2010/main" val="80435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Route Improvers: Classical Local Search vs Fast-TSP</a:t>
            </a:r>
          </a:p>
        </p:txBody>
      </p:sp>
      <p:pic>
        <p:nvPicPr>
          <p:cNvPr id="3" name="Picture 2" descr="ls_op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05" y="1097280"/>
            <a:ext cx="9998684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4: </a:t>
            </a:r>
            <a:r>
              <a:rPr sz="1100" i="1">
                <a:solidFill>
                  <a:srgbClr val="5A6A7A"/>
                </a:solidFill>
              </a:rPr>
              <a:t>CLS explores several intra/inter-route neighbourhoods to a local optimum: 2-opt removes a crossing by reversing a segment, swap exchanges two nodes between routes, and relocate moves a single node to a better position. Fast-TSP applies the analogous exact/Stochastic-Local-Search reordering within each route.</a:t>
            </a:r>
          </a:p>
        </p:txBody>
      </p:sp>
    </p:spTree>
    <p:extLst>
      <p:ext uri="{BB962C8B-B14F-4D97-AF65-F5344CB8AC3E}">
        <p14:creationId xmlns:p14="http://schemas.microsoft.com/office/powerpoint/2010/main" val="392573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Design of Experiments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90007" y="1143000"/>
            <a:ext cx="2011680" cy="45720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Simulation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64327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2469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2469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6298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FFZ-350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298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920240"/>
            <a:ext cx="5364327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90 Days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(Pareto-front policies 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2556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556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385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FFZ-350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6385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5: </a:t>
            </a:r>
            <a:r>
              <a:rPr sz="1100" i="1">
                <a:solidFill>
                  <a:srgbClr val="5A6A7A"/>
                </a:solidFill>
              </a:rPr>
              <a:t>Every scenario (region × graph size × waste distribution) is simulated for both the 30-day and the 90-day horizon; the 90-day runs are restricted to the 30-day Pareto-front policies.</a:t>
            </a:r>
          </a:p>
        </p:txBody>
      </p:sp>
      <p:pic>
        <p:nvPicPr>
          <p:cNvPr id="19" name="Picture 18" descr="riomai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63" y="4297680"/>
            <a:ext cx="2839320" cy="2011680"/>
          </a:xfrm>
          <a:prstGeom prst="rect">
            <a:avLst/>
          </a:prstGeom>
        </p:spPr>
      </p:pic>
      <p:pic>
        <p:nvPicPr>
          <p:cNvPr id="20" name="Picture 19" descr="figueiradafoz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910" y="4297680"/>
            <a:ext cx="2807640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30936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A6A7A"/>
                </a:solidFill>
              </a:defRPr>
            </a:pPr>
            <a:r>
              <a:t>Rio Maior — every known bin location; the RM-100 / RM-170 scenarios sample this network.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7" y="630936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A6A7A"/>
                </a:solidFill>
              </a:defRPr>
            </a:pPr>
            <a:r>
              <a:t>Figueira da Foz — every known bin location; the FFZ-350 scenario samples this network.</a:t>
            </a:r>
          </a:p>
        </p:txBody>
      </p:sp>
    </p:spTree>
    <p:extLst>
      <p:ext uri="{BB962C8B-B14F-4D97-AF65-F5344CB8AC3E}">
        <p14:creationId xmlns:p14="http://schemas.microsoft.com/office/powerpoint/2010/main" val="246503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Pareto Front (Overflows vs KG / KM)</a:t>
            </a:r>
          </a:p>
        </p:txBody>
      </p:sp>
      <p:pic>
        <p:nvPicPr>
          <p:cNvPr id="3" name="Picture 2" descr="pareto_scatter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18" y="1051560"/>
            <a:ext cx="10393378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6: </a:t>
            </a:r>
            <a:r>
              <a:rPr sz="1100" i="1">
                <a:solidFill>
                  <a:srgbClr val="5A6A7A"/>
                </a:solidFill>
              </a:rPr>
              <a:t>Symlog X axis (overflows). Colour = selection variant, shape = scenario, dashed lines = Pareto fronts (one colour per scenario).</a:t>
            </a:r>
          </a:p>
        </p:txBody>
      </p:sp>
    </p:spTree>
    <p:extLst>
      <p:ext uri="{BB962C8B-B14F-4D97-AF65-F5344CB8AC3E}">
        <p14:creationId xmlns:p14="http://schemas.microsoft.com/office/powerpoint/2010/main" val="3727922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Summary KPI Analysis by Selection Strategy</a:t>
            </a:r>
          </a:p>
        </p:txBody>
      </p:sp>
      <p:pic>
        <p:nvPicPr>
          <p:cNvPr id="3" name="Picture 2" descr="kpi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810" y="986246"/>
            <a:ext cx="8695708" cy="58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34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Strategy Trade-off (Overflows vs KG / KM)</a:t>
            </a:r>
          </a:p>
        </p:txBody>
      </p:sp>
      <p:pic>
        <p:nvPicPr>
          <p:cNvPr id="3" name="Picture 2" descr="strategy_bubbl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1039"/>
            <a:ext cx="11460175" cy="4821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8: </a:t>
            </a:r>
            <a:r>
              <a:rPr sz="1100" i="1">
                <a:solidFill>
                  <a:srgbClr val="5A6A7A"/>
                </a:solidFill>
              </a:rPr>
              <a:t>Each bubble = (selection strategy, scenario) averaged over constructors and improvers — coloured by mandatory selection strategy (LA/LM/SL).</a:t>
            </a:r>
          </a:p>
        </p:txBody>
      </p:sp>
    </p:spTree>
    <p:extLst>
      <p:ext uri="{BB962C8B-B14F-4D97-AF65-F5344CB8AC3E}">
        <p14:creationId xmlns:p14="http://schemas.microsoft.com/office/powerpoint/2010/main" val="423799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Per-Scenario Heatmaps (Constructors × Strategy·Improver)</a:t>
            </a:r>
          </a:p>
        </p:txBody>
      </p:sp>
      <p:pic>
        <p:nvPicPr>
          <p:cNvPr id="3" name="Picture 2" descr="scenario_construct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4836"/>
            <a:ext cx="11460175" cy="3774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9: </a:t>
            </a:r>
            <a:r>
              <a:rPr sz="1100" i="1">
                <a:solidFill>
                  <a:srgbClr val="5A6A7A"/>
                </a:solidFill>
              </a:rPr>
              <a:t>30-day runs. One panel per scenario; route constructors on the rows, selection × improver combinations on the columns.</a:t>
            </a:r>
          </a:p>
        </p:txBody>
      </p:sp>
    </p:spTree>
    <p:extLst>
      <p:ext uri="{BB962C8B-B14F-4D97-AF65-F5344CB8AC3E}">
        <p14:creationId xmlns:p14="http://schemas.microsoft.com/office/powerpoint/2010/main" val="1359153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Overflow &amp; KG / KM Heatmaps, 90 Days (Policies × Scenarios)</a:t>
            </a:r>
          </a:p>
        </p:txBody>
      </p:sp>
      <p:pic>
        <p:nvPicPr>
          <p:cNvPr id="3" name="Picture 2" descr="policy_scenario_heatmap_over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96" y="1051560"/>
            <a:ext cx="4602495" cy="5120640"/>
          </a:xfrm>
          <a:prstGeom prst="rect">
            <a:avLst/>
          </a:prstGeom>
        </p:spPr>
      </p:pic>
      <p:pic>
        <p:nvPicPr>
          <p:cNvPr id="4" name="Picture 3" descr="policy_scenario_heatmap_kg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784" y="1051560"/>
            <a:ext cx="457077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10: </a:t>
            </a:r>
            <a:r>
              <a:rPr sz="1100" i="1">
                <a:solidFill>
                  <a:srgbClr val="5A6A7A"/>
                </a:solidFill>
              </a:rPr>
              <a:t>90-day runs (Pareto-front policies only — fewer rows, easier to read). Rows = policy configurations; columns = scenarios.</a:t>
            </a:r>
          </a:p>
        </p:txBody>
      </p:sp>
    </p:spTree>
    <p:extLst>
      <p:ext uri="{BB962C8B-B14F-4D97-AF65-F5344CB8AC3E}">
        <p14:creationId xmlns:p14="http://schemas.microsoft.com/office/powerpoint/2010/main" val="3709728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Route Improver Comparison</a:t>
            </a:r>
          </a:p>
        </p:txBody>
      </p:sp>
      <p:pic>
        <p:nvPicPr>
          <p:cNvPr id="3" name="Picture 2" descr="improver_bubbl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1850"/>
            <a:ext cx="11460175" cy="4820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6430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11: </a:t>
            </a:r>
            <a:r>
              <a:rPr sz="1100" i="1">
                <a:solidFill>
                  <a:srgbClr val="5A6A7A"/>
                </a:solidFill>
              </a:rPr>
              <a:t>Each bubble = (improver, scenario) averaged over strategies and constructors — FTSP vs CLS contrasted directly.</a:t>
            </a:r>
          </a:p>
        </p:txBody>
      </p:sp>
    </p:spTree>
    <p:extLst>
      <p:ext uri="{BB962C8B-B14F-4D97-AF65-F5344CB8AC3E}">
        <p14:creationId xmlns:p14="http://schemas.microsoft.com/office/powerpoint/2010/main" val="3661519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Full Table (30-Day Horizon)</a:t>
            </a:r>
          </a:p>
        </p:txBody>
      </p:sp>
      <p:pic>
        <p:nvPicPr>
          <p:cNvPr id="3" name="Picture 2" descr="full_results_table_strategy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43055" cy="1782327"/>
          </a:xfrm>
          <a:prstGeom prst="rect">
            <a:avLst/>
          </a:prstGeom>
        </p:spPr>
      </p:pic>
      <p:pic>
        <p:nvPicPr>
          <p:cNvPr id="4" name="Picture 3" descr="full_results_table_strategy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97480"/>
            <a:ext cx="11643055" cy="1645920"/>
          </a:xfrm>
          <a:prstGeom prst="rect">
            <a:avLst/>
          </a:prstGeom>
        </p:spPr>
      </p:pic>
      <p:pic>
        <p:nvPicPr>
          <p:cNvPr id="5" name="Picture 4" descr="full_results_table_strategy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343400"/>
            <a:ext cx="11643055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344" y="6284524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Table 1: </a:t>
            </a:r>
            <a:r>
              <a:rPr sz="1100" i="1">
                <a:solidFill>
                  <a:srgbClr val="5A6A7A"/>
                </a:solidFill>
              </a:rPr>
              <a:t>Full results table — rows: region × graph size × data distribution; columns: partitioned by mandatory selection strategy (LA, LM, SL), one partial table per value; each partial table then grouped by route constructor × route improver. In every cell, the top value is mean±std overflows (lower is better) and the bottom value is mean±std KG / KM (higher is better), separated by a dotted line; the single best value per row (across every partial table) is shown in bold green.</a:t>
            </a:r>
          </a:p>
        </p:txBody>
      </p:sp>
    </p:spTree>
    <p:extLst>
      <p:ext uri="{BB962C8B-B14F-4D97-AF65-F5344CB8AC3E}">
        <p14:creationId xmlns:p14="http://schemas.microsoft.com/office/powerpoint/2010/main" val="3656000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Conclusions, Limitations &amp; Future Work</a:t>
            </a:r>
          </a:p>
        </p:txBody>
      </p:sp>
      <p:pic>
        <p:nvPicPr>
          <p:cNvPr id="3" name="Picture 2" descr="policy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8951"/>
            <a:ext cx="5552048" cy="4980178"/>
          </a:xfrm>
          <a:prstGeom prst="rect">
            <a:avLst/>
          </a:prstGeom>
        </p:spPr>
      </p:pic>
      <p:pic>
        <p:nvPicPr>
          <p:cNvPr id="4" name="Picture 3" descr="policy_radar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248" y="1258951"/>
            <a:ext cx="5725244" cy="49801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D3D"/>
                </a:solidFill>
              </a:rPr>
              <a:t>Figure 12: </a:t>
            </a:r>
            <a:r>
              <a:rPr sz="1100" i="1">
                <a:solidFill>
                  <a:srgbClr val="5A6A7A"/>
                </a:solidFill>
              </a:rPr>
              <a:t>Overlaid radar charts comparing route constructors across overflow, efficiency, distance and profit axes (outer = better) — a curated subset (left) and every constructor (right).</a:t>
            </a:r>
          </a:p>
        </p:txBody>
      </p:sp>
    </p:spTree>
    <p:extLst>
      <p:ext uri="{BB962C8B-B14F-4D97-AF65-F5344CB8AC3E}">
        <p14:creationId xmlns:p14="http://schemas.microsoft.com/office/powerpoint/2010/main" val="1237588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5090007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Thank You — Questions &amp; Answers</a:t>
            </a:r>
          </a:p>
          <a:p>
            <a:pPr algn="l">
              <a:defRPr sz="1600">
                <a:solidFill>
                  <a:srgbClr val="C9D6E4"/>
                </a:solidFill>
              </a:defRPr>
            </a:pPr>
            <a:r>
              <a:t>Thank you for your attention!</a:t>
            </a:r>
          </a:p>
          <a:p>
            <a:pPr algn="l">
              <a:defRPr sz="1600">
                <a:solidFill>
                  <a:srgbClr val="C9D6E4"/>
                </a:solidFill>
              </a:defRPr>
            </a:pPr>
            <a:r>
              <a:t>Time for questions</a:t>
            </a:r>
          </a:p>
        </p:txBody>
      </p:sp>
      <p:pic>
        <p:nvPicPr>
          <p:cNvPr id="4" name="Picture 3" descr="qa_route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717978"/>
            <a:ext cx="5364327" cy="542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2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2026-07-14T12:58:36Z</dcterms:modified>
  <cp:category/>
</cp:coreProperties>
</file>