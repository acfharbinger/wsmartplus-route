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6" r:id="rId6"/>
    <p:sldId id="257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77F559-CD96-46EA-9C92-86EA67080EFF}" v="1" dt="2026-04-30T10:13:41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9" autoAdjust="0"/>
    <p:restoredTop sz="94660"/>
  </p:normalViewPr>
  <p:slideViewPr>
    <p:cSldViewPr snapToGrid="0">
      <p:cViewPr>
        <p:scale>
          <a:sx n="91" d="100"/>
          <a:sy n="91" d="100"/>
        </p:scale>
        <p:origin x="33" y="-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9D53-580D-71D0-488D-78685503F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CDB95-A444-8D51-7738-1DAFFE3CF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CE19-34AB-6293-3BBC-11B81917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EF0B-CD93-ECEA-4D5F-7B55EBDF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0EB1-5E26-595E-7DAD-F1F3FB20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4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F46F-31BD-B328-B3E5-0CB34DDF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7CFB-3302-59C6-3EA6-FBD511DF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2129-D1DB-57B3-85FC-74790625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B7F13-3C7B-0488-982B-80CAAAA9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14596-B22F-B46D-29A2-9D2D51A4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0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08DC-0828-F5D5-0B47-BE0A0C45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70785-BEF4-719D-CB50-3D4B36B42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AE98-1A57-7833-83BD-EB9080C0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FA93-C9BE-B581-A27B-DA8A450F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2934-3912-89EE-5184-B7258AF9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1727-51C7-CA9E-8F7A-CEBA01BE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33304-C1B1-2F95-3239-D01197E51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DB5F9-CA2F-BB4A-8BEF-8AF052254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C1914-B63C-668B-BB9A-95B2365B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2F969-16D3-0C1E-CF4E-C1BC87FD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DC58E-BC1D-9EC6-F655-38EF4971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2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6A91-0460-B933-4E3E-591B20E5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5C6D2-B1D5-FD1E-ECE4-DD352E6B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D967F-7706-EDD3-0488-FE7E5E16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8B0AD-90F5-ED39-392E-471574863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48F3B-240B-D7A5-1258-F715AE2BE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EFE535-DB81-0C04-95CD-0496BB13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938A1-0AAD-A766-8E28-3B846BC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F413F-2DDB-363A-0432-F7C48472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3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2C87-776F-5AC1-1B1A-71285E7F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9969-F2B9-73E8-BB7B-25E27150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AEB1D-6E5F-6F0F-0E7A-BC115F3D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36AF7-EF62-5C41-5EEE-765AE167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8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7D1BF-01C0-F074-192F-4BFF98A9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C8003-328D-4D05-ABA0-BAF1B670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0595E-56AC-1FA7-FBFA-A31CD6E4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1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A477-EA5C-7912-1508-C023239F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D6D9-CD06-4B77-3A4A-1BB3AD1DD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892F1-25A3-BE2F-CB6B-C05D88DF3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1B4DB-2C9A-C391-E560-E6D8806F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044C8-41C2-F17D-0AAF-CCDF6AA0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E5960-C0E9-C3E8-D9D9-E6C4D099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5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4CAE-B46F-29D8-2EDA-0467E5B0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4BAB3-C32F-A56B-65F8-0C1A1E825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865-EF72-807D-F547-FED71B00E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22C56-6EBB-F1BF-BF9A-ECB92E4B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A8008-15CF-3AF3-769B-6CA367D4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E1221-6152-30B0-2478-75952534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2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12F-4CEB-7D90-23D3-F06D7336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8A009-61AC-1612-DA5E-B89B02015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708DA-384C-6134-D2B0-A880D9C3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9EF0-985A-FCDE-8FBA-224A7E8B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0ED5B-DF21-A762-908E-D9668447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4E47A-5BDC-31DC-8752-A58AB856B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8E940-2823-56E4-0D49-C843EFB14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BA33C-260B-CE1A-E7B1-B543E73E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FE0C-CB22-C9EF-4573-B70540FE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CF44-26DD-8C0B-A7FE-2E2703B4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4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D0B15-A639-FFA2-5228-A228C64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43113-171A-2E9A-2D29-9BC68D86F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E85E-C283-4AC2-D9F0-FA35AD3E4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ED154-CC5F-4F34-8411-3BEFF2EB93D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6EF2-774F-1B3A-9E25-D8E798685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DB6F-200C-AFAC-D0CD-3629A8CBD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E4A6A-5793-454F-8EA1-936EB45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78EC-15F8-B1E6-7BC9-37CC3E28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9AA15F-2BAA-399A-37B1-DD64E9AADB21}"/>
              </a:ext>
            </a:extLst>
          </p:cNvPr>
          <p:cNvSpPr txBox="1"/>
          <p:nvPr/>
        </p:nvSpPr>
        <p:spPr>
          <a:xfrm>
            <a:off x="3697921" y="791924"/>
            <a:ext cx="210312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Definir</a:t>
            </a:r>
            <a:r>
              <a:rPr lang="en-US" dirty="0"/>
              <a:t> Must 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C3819-B47F-6C3D-3667-64C0A08EF143}"/>
              </a:ext>
            </a:extLst>
          </p:cNvPr>
          <p:cNvSpPr txBox="1"/>
          <p:nvPr/>
        </p:nvSpPr>
        <p:spPr>
          <a:xfrm>
            <a:off x="3559866" y="1495407"/>
            <a:ext cx="2678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Last Minute: </a:t>
            </a:r>
            <a:r>
              <a:rPr lang="en-US" dirty="0" err="1"/>
              <a:t>Probabilidade</a:t>
            </a:r>
            <a:r>
              <a:rPr lang="en-US" dirty="0"/>
              <a:t> de </a:t>
            </a:r>
            <a:r>
              <a:rPr lang="en-US" dirty="0" err="1"/>
              <a:t>entrar</a:t>
            </a:r>
            <a:r>
              <a:rPr lang="en-US" dirty="0"/>
              <a:t> em overflow (Threshold </a:t>
            </a:r>
            <a:r>
              <a:rPr lang="en-US" dirty="0" err="1"/>
              <a:t>testados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70</a:t>
            </a:r>
            <a:r>
              <a:rPr lang="en-US" dirty="0"/>
              <a:t>%, </a:t>
            </a:r>
            <a:r>
              <a:rPr lang="en-US" dirty="0">
                <a:solidFill>
                  <a:schemeClr val="accent6"/>
                </a:solidFill>
              </a:rPr>
              <a:t>90</a:t>
            </a:r>
            <a:r>
              <a:rPr lang="en-US" dirty="0"/>
              <a:t>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36C10-000D-7837-663C-E40942A87561}"/>
              </a:ext>
            </a:extLst>
          </p:cNvPr>
          <p:cNvSpPr txBox="1"/>
          <p:nvPr/>
        </p:nvSpPr>
        <p:spPr>
          <a:xfrm>
            <a:off x="3535662" y="3734402"/>
            <a:ext cx="2678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Look Ahead: </a:t>
            </a:r>
            <a:r>
              <a:rPr lang="en-US" dirty="0" err="1"/>
              <a:t>Estimativa</a:t>
            </a:r>
            <a:r>
              <a:rPr lang="en-US" dirty="0"/>
              <a:t> de </a:t>
            </a:r>
            <a:r>
              <a:rPr lang="en-US" dirty="0" err="1"/>
              <a:t>enchimento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dias</a:t>
            </a:r>
            <a:r>
              <a:rPr lang="en-US" dirty="0"/>
              <a:t> </a:t>
            </a:r>
            <a:r>
              <a:rPr lang="en-US" dirty="0" err="1"/>
              <a:t>seguintes</a:t>
            </a:r>
            <a:r>
              <a:rPr lang="en-US" dirty="0"/>
              <a:t>, com base na </a:t>
            </a:r>
            <a:r>
              <a:rPr lang="en-US" dirty="0" err="1"/>
              <a:t>média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93F60-98EE-D960-A95C-710978AA0656}"/>
              </a:ext>
            </a:extLst>
          </p:cNvPr>
          <p:cNvSpPr txBox="1"/>
          <p:nvPr/>
        </p:nvSpPr>
        <p:spPr>
          <a:xfrm>
            <a:off x="4288895" y="5766904"/>
            <a:ext cx="2678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Regular: </a:t>
            </a:r>
            <a:r>
              <a:rPr lang="en-US" dirty="0" err="1"/>
              <a:t>Visitar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bins de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em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</a:t>
            </a:r>
            <a:r>
              <a:rPr lang="en-US" dirty="0" err="1"/>
              <a:t>dias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0F816-55D5-98E2-81DE-25A4ADB6A4F1}"/>
              </a:ext>
            </a:extLst>
          </p:cNvPr>
          <p:cNvSpPr txBox="1"/>
          <p:nvPr/>
        </p:nvSpPr>
        <p:spPr>
          <a:xfrm>
            <a:off x="6597440" y="775723"/>
            <a:ext cx="210312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Definição</a:t>
            </a:r>
            <a:r>
              <a:rPr lang="en-US" dirty="0"/>
              <a:t> da Rota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AD354-CC68-C0E7-F02F-0E16F647B806}"/>
              </a:ext>
            </a:extLst>
          </p:cNvPr>
          <p:cNvSpPr txBox="1"/>
          <p:nvPr/>
        </p:nvSpPr>
        <p:spPr>
          <a:xfrm>
            <a:off x="6458155" y="1691329"/>
            <a:ext cx="2678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VRPP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Solver </a:t>
            </a:r>
            <a:r>
              <a:rPr lang="en-US" b="1" dirty="0" err="1"/>
              <a:t>Gurobi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A80D8-C356-BE03-006C-582EB741DD19}"/>
              </a:ext>
            </a:extLst>
          </p:cNvPr>
          <p:cNvSpPr txBox="1"/>
          <p:nvPr/>
        </p:nvSpPr>
        <p:spPr>
          <a:xfrm>
            <a:off x="6424981" y="3153058"/>
            <a:ext cx="2678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SANS</a:t>
            </a:r>
          </a:p>
          <a:p>
            <a:r>
              <a:rPr lang="en-US" b="1" dirty="0"/>
              <a:t>3. </a:t>
            </a:r>
            <a:r>
              <a:rPr lang="en-GB" dirty="0"/>
              <a:t>Pheromone-Guided Cooperative Large </a:t>
            </a:r>
            <a:r>
              <a:rPr lang="en-GB" dirty="0" err="1"/>
              <a:t>Neighborhood</a:t>
            </a:r>
            <a:r>
              <a:rPr lang="en-GB" dirty="0"/>
              <a:t> Search (PG-CLNS)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32D8E4-6A42-A8E8-0AC7-46CE959F1899}"/>
              </a:ext>
            </a:extLst>
          </p:cNvPr>
          <p:cNvSpPr txBox="1"/>
          <p:nvPr/>
        </p:nvSpPr>
        <p:spPr>
          <a:xfrm>
            <a:off x="6398987" y="4709242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Attention Model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47EC19-1CA3-1EFC-0E75-419C5CAAD093}"/>
              </a:ext>
            </a:extLst>
          </p:cNvPr>
          <p:cNvSpPr/>
          <p:nvPr/>
        </p:nvSpPr>
        <p:spPr>
          <a:xfrm>
            <a:off x="6387334" y="1394530"/>
            <a:ext cx="2775473" cy="122109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3013C8-13EB-B3BA-FCC5-8686844279F9}"/>
              </a:ext>
            </a:extLst>
          </p:cNvPr>
          <p:cNvSpPr txBox="1"/>
          <p:nvPr/>
        </p:nvSpPr>
        <p:spPr>
          <a:xfrm>
            <a:off x="7679148" y="1405074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Exact Algorithms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CFC395-0E43-2C34-B292-8912D92D2F77}"/>
              </a:ext>
            </a:extLst>
          </p:cNvPr>
          <p:cNvSpPr/>
          <p:nvPr/>
        </p:nvSpPr>
        <p:spPr>
          <a:xfrm>
            <a:off x="6380157" y="2862483"/>
            <a:ext cx="2775473" cy="10537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0E215F-3443-357F-BE01-67BFDA93D9F6}"/>
              </a:ext>
            </a:extLst>
          </p:cNvPr>
          <p:cNvSpPr txBox="1"/>
          <p:nvPr/>
        </p:nvSpPr>
        <p:spPr>
          <a:xfrm>
            <a:off x="7619980" y="2923703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Metaheuristics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8C0495-6430-5D95-B5A5-8BECC7FB1A13}"/>
              </a:ext>
            </a:extLst>
          </p:cNvPr>
          <p:cNvSpPr/>
          <p:nvPr/>
        </p:nvSpPr>
        <p:spPr>
          <a:xfrm>
            <a:off x="6398987" y="4388636"/>
            <a:ext cx="2775473" cy="6802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9F773-E93B-3AF4-6A9D-A5946BF85122}"/>
              </a:ext>
            </a:extLst>
          </p:cNvPr>
          <p:cNvSpPr txBox="1"/>
          <p:nvPr/>
        </p:nvSpPr>
        <p:spPr>
          <a:xfrm>
            <a:off x="7199537" y="4378964"/>
            <a:ext cx="1963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NCO w/ Reinforcement Learning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41E18D-831E-AEFD-246A-2C0B38C0691D}"/>
              </a:ext>
            </a:extLst>
          </p:cNvPr>
          <p:cNvCxnSpPr>
            <a:cxnSpLocks/>
          </p:cNvCxnSpPr>
          <p:nvPr/>
        </p:nvCxnSpPr>
        <p:spPr>
          <a:xfrm flipV="1">
            <a:off x="6580073" y="6123083"/>
            <a:ext cx="11582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E489BF3-575A-2A50-DE2C-E0AE5DB120EB}"/>
              </a:ext>
            </a:extLst>
          </p:cNvPr>
          <p:cNvSpPr txBox="1"/>
          <p:nvPr/>
        </p:nvSpPr>
        <p:spPr>
          <a:xfrm>
            <a:off x="3546619" y="5385472"/>
            <a:ext cx="228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Blind Collection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8628D-8FE8-F15E-3F3F-13534B2200D3}"/>
              </a:ext>
            </a:extLst>
          </p:cNvPr>
          <p:cNvSpPr txBox="1"/>
          <p:nvPr/>
        </p:nvSpPr>
        <p:spPr>
          <a:xfrm>
            <a:off x="3535662" y="2726814"/>
            <a:ext cx="2889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dirty="0" err="1"/>
              <a:t>Estimativa</a:t>
            </a:r>
            <a:r>
              <a:rPr lang="en-US" dirty="0"/>
              <a:t> para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 err="1">
                <a:solidFill>
                  <a:schemeClr val="accent6"/>
                </a:solidFill>
              </a:rPr>
              <a:t>ou</a:t>
            </a:r>
            <a:r>
              <a:rPr lang="en-US" dirty="0">
                <a:solidFill>
                  <a:schemeClr val="accent6"/>
                </a:solidFill>
              </a:rPr>
              <a:t> 2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com </a:t>
            </a:r>
            <a:r>
              <a:rPr lang="en-US" b="1" dirty="0" err="1"/>
              <a:t>Nível</a:t>
            </a:r>
            <a:r>
              <a:rPr lang="en-US" b="1" dirty="0"/>
              <a:t> de </a:t>
            </a:r>
            <a:r>
              <a:rPr lang="en-US" b="1" dirty="0" err="1"/>
              <a:t>Serviço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média</a:t>
            </a:r>
            <a:r>
              <a:rPr lang="en-US" dirty="0"/>
              <a:t> + </a:t>
            </a:r>
            <a:r>
              <a:rPr lang="en-US" dirty="0" err="1">
                <a:solidFill>
                  <a:schemeClr val="accent6"/>
                </a:solidFill>
              </a:rPr>
              <a:t>z</a:t>
            </a:r>
            <a:r>
              <a:rPr lang="en-US" dirty="0" err="1"/>
              <a:t>Desvio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762964-1433-4E04-4997-984D3F07D137}"/>
              </a:ext>
            </a:extLst>
          </p:cNvPr>
          <p:cNvSpPr txBox="1"/>
          <p:nvPr/>
        </p:nvSpPr>
        <p:spPr>
          <a:xfrm>
            <a:off x="9579661" y="1711585"/>
            <a:ext cx="12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Path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16FA39-B725-0B36-BA7C-7DA82416B952}"/>
              </a:ext>
            </a:extLst>
          </p:cNvPr>
          <p:cNvSpPr txBox="1"/>
          <p:nvPr/>
        </p:nvSpPr>
        <p:spPr>
          <a:xfrm>
            <a:off x="9604765" y="731694"/>
            <a:ext cx="2398058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Pos-</a:t>
            </a:r>
            <a:r>
              <a:rPr lang="en-US" dirty="0" err="1"/>
              <a:t>Processamento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371F5D-0415-5A14-C88C-AC5CAEC8CB00}"/>
              </a:ext>
            </a:extLst>
          </p:cNvPr>
          <p:cNvCxnSpPr/>
          <p:nvPr/>
        </p:nvCxnSpPr>
        <p:spPr>
          <a:xfrm>
            <a:off x="599402" y="5385472"/>
            <a:ext cx="113600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16D4091-06A6-87F3-EFE7-8E126FE6AD42}"/>
              </a:ext>
            </a:extLst>
          </p:cNvPr>
          <p:cNvSpPr txBox="1"/>
          <p:nvPr/>
        </p:nvSpPr>
        <p:spPr>
          <a:xfrm>
            <a:off x="7960343" y="5912905"/>
            <a:ext cx="15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CVRP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0AC8E42-9286-B0A1-123F-4B09BE3504DF}"/>
              </a:ext>
            </a:extLst>
          </p:cNvPr>
          <p:cNvSpPr/>
          <p:nvPr/>
        </p:nvSpPr>
        <p:spPr>
          <a:xfrm>
            <a:off x="9473877" y="1610702"/>
            <a:ext cx="2775473" cy="79613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5FED57-9968-D2E3-9BB3-CC3B68DEDC18}"/>
              </a:ext>
            </a:extLst>
          </p:cNvPr>
          <p:cNvSpPr txBox="1"/>
          <p:nvPr/>
        </p:nvSpPr>
        <p:spPr>
          <a:xfrm>
            <a:off x="10803794" y="1620824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/>
              <a:t>Insere</a:t>
            </a:r>
            <a:r>
              <a:rPr lang="en-US" sz="1200" dirty="0"/>
              <a:t> </a:t>
            </a:r>
            <a:r>
              <a:rPr lang="en-US" sz="1200" dirty="0" err="1"/>
              <a:t>novos</a:t>
            </a:r>
            <a:r>
              <a:rPr lang="en-US" sz="1200" dirty="0"/>
              <a:t> bins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A671D9-908F-7D7E-39A2-4C302D533382}"/>
              </a:ext>
            </a:extLst>
          </p:cNvPr>
          <p:cNvSpPr txBox="1"/>
          <p:nvPr/>
        </p:nvSpPr>
        <p:spPr>
          <a:xfrm>
            <a:off x="414168" y="118334"/>
            <a:ext cx="102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Registar</a:t>
            </a:r>
            <a:r>
              <a:rPr lang="en-US" dirty="0"/>
              <a:t> Software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11188-026F-E193-1FD9-B5C15A9B2490}"/>
              </a:ext>
            </a:extLst>
          </p:cNvPr>
          <p:cNvSpPr txBox="1"/>
          <p:nvPr/>
        </p:nvSpPr>
        <p:spPr>
          <a:xfrm>
            <a:off x="106493" y="794564"/>
            <a:ext cx="143076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Simulation Engine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8E367-06DC-6497-834E-ADF347F6C337}"/>
              </a:ext>
            </a:extLst>
          </p:cNvPr>
          <p:cNvSpPr txBox="1"/>
          <p:nvPr/>
        </p:nvSpPr>
        <p:spPr>
          <a:xfrm>
            <a:off x="1893183" y="1546606"/>
            <a:ext cx="157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André (</a:t>
            </a:r>
            <a:r>
              <a:rPr lang="en-US" b="1" dirty="0" err="1"/>
              <a:t>WSmart</a:t>
            </a:r>
            <a:r>
              <a:rPr lang="en-US" b="1" dirty="0"/>
              <a:t> Bin Analysis)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2F798-2464-EB9F-1818-D5C2EA27666C}"/>
              </a:ext>
            </a:extLst>
          </p:cNvPr>
          <p:cNvSpPr txBox="1"/>
          <p:nvPr/>
        </p:nvSpPr>
        <p:spPr>
          <a:xfrm>
            <a:off x="1890904" y="2582391"/>
            <a:ext cx="157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Média</a:t>
            </a:r>
            <a:r>
              <a:rPr lang="en-US" b="1" dirty="0"/>
              <a:t> e </a:t>
            </a:r>
            <a:r>
              <a:rPr lang="en-US" b="1" dirty="0" err="1"/>
              <a:t>Desvio-Padrão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365E6-EA92-6C63-049E-DC428E49C08F}"/>
              </a:ext>
            </a:extLst>
          </p:cNvPr>
          <p:cNvSpPr txBox="1"/>
          <p:nvPr/>
        </p:nvSpPr>
        <p:spPr>
          <a:xfrm>
            <a:off x="1935460" y="814797"/>
            <a:ext cx="1430767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Previsão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05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EAFAB-03A8-B18D-B758-02929E03B9D8}"/>
              </a:ext>
            </a:extLst>
          </p:cNvPr>
          <p:cNvSpPr txBox="1"/>
          <p:nvPr/>
        </p:nvSpPr>
        <p:spPr>
          <a:xfrm>
            <a:off x="989703" y="687894"/>
            <a:ext cx="210312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Must 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2095A-F2D6-5A49-DBA1-03C0D9DB4478}"/>
              </a:ext>
            </a:extLst>
          </p:cNvPr>
          <p:cNvSpPr txBox="1"/>
          <p:nvPr/>
        </p:nvSpPr>
        <p:spPr>
          <a:xfrm>
            <a:off x="835511" y="1495407"/>
            <a:ext cx="2678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Last Minute: </a:t>
            </a:r>
            <a:r>
              <a:rPr lang="en-US" dirty="0" err="1"/>
              <a:t>Probabilidade</a:t>
            </a:r>
            <a:r>
              <a:rPr lang="en-US" dirty="0"/>
              <a:t> de </a:t>
            </a:r>
            <a:r>
              <a:rPr lang="en-US" dirty="0" err="1"/>
              <a:t>entrar</a:t>
            </a:r>
            <a:r>
              <a:rPr lang="en-US" dirty="0"/>
              <a:t> em overflow (Threshold </a:t>
            </a:r>
            <a:r>
              <a:rPr lang="en-US" dirty="0" err="1"/>
              <a:t>testados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70</a:t>
            </a:r>
            <a:r>
              <a:rPr lang="en-US" dirty="0"/>
              <a:t>%, </a:t>
            </a:r>
            <a:r>
              <a:rPr lang="en-US" dirty="0">
                <a:solidFill>
                  <a:schemeClr val="accent6"/>
                </a:solidFill>
              </a:rPr>
              <a:t>90</a:t>
            </a:r>
            <a:r>
              <a:rPr lang="en-US" dirty="0"/>
              <a:t>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B53192-1641-1B38-6F9B-4A3B4E7F5BCC}"/>
              </a:ext>
            </a:extLst>
          </p:cNvPr>
          <p:cNvSpPr txBox="1"/>
          <p:nvPr/>
        </p:nvSpPr>
        <p:spPr>
          <a:xfrm>
            <a:off x="811307" y="3734402"/>
            <a:ext cx="2678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Look Ahead: </a:t>
            </a:r>
            <a:r>
              <a:rPr lang="en-US" dirty="0" err="1"/>
              <a:t>Estimativa</a:t>
            </a:r>
            <a:r>
              <a:rPr lang="en-US" dirty="0"/>
              <a:t> de </a:t>
            </a:r>
            <a:r>
              <a:rPr lang="en-US" dirty="0" err="1"/>
              <a:t>enchimento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dias</a:t>
            </a:r>
            <a:r>
              <a:rPr lang="en-US" dirty="0"/>
              <a:t> </a:t>
            </a:r>
            <a:r>
              <a:rPr lang="en-US" dirty="0" err="1"/>
              <a:t>seguintes</a:t>
            </a:r>
            <a:r>
              <a:rPr lang="en-US" dirty="0"/>
              <a:t>, com base na </a:t>
            </a:r>
            <a:r>
              <a:rPr lang="en-US" dirty="0" err="1"/>
              <a:t>média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B088A-1109-0D9B-BA2E-4871861B70DF}"/>
              </a:ext>
            </a:extLst>
          </p:cNvPr>
          <p:cNvSpPr txBox="1"/>
          <p:nvPr/>
        </p:nvSpPr>
        <p:spPr>
          <a:xfrm>
            <a:off x="822960" y="5766904"/>
            <a:ext cx="2678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Regular: </a:t>
            </a:r>
            <a:r>
              <a:rPr lang="en-US" dirty="0" err="1"/>
              <a:t>Visitar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bins de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em </a:t>
            </a:r>
            <a:r>
              <a:rPr lang="en-US" dirty="0">
                <a:solidFill>
                  <a:schemeClr val="accent6"/>
                </a:solidFill>
              </a:rPr>
              <a:t>X</a:t>
            </a:r>
            <a:r>
              <a:rPr lang="en-US" dirty="0"/>
              <a:t> </a:t>
            </a:r>
            <a:r>
              <a:rPr lang="en-US" dirty="0" err="1"/>
              <a:t>dias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B72C2-C0B5-64C2-2741-ADE51453657D}"/>
              </a:ext>
            </a:extLst>
          </p:cNvPr>
          <p:cNvSpPr txBox="1"/>
          <p:nvPr/>
        </p:nvSpPr>
        <p:spPr>
          <a:xfrm>
            <a:off x="4999617" y="687894"/>
            <a:ext cx="210312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Definição</a:t>
            </a:r>
            <a:r>
              <a:rPr lang="en-US" dirty="0"/>
              <a:t> da Rota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9E010-5DDE-A410-BB9D-20AC9FA94148}"/>
              </a:ext>
            </a:extLst>
          </p:cNvPr>
          <p:cNvSpPr txBox="1"/>
          <p:nvPr/>
        </p:nvSpPr>
        <p:spPr>
          <a:xfrm>
            <a:off x="4782671" y="1524583"/>
            <a:ext cx="2678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VRPP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Solver </a:t>
            </a:r>
            <a:r>
              <a:rPr lang="en-US" b="1" dirty="0" err="1"/>
              <a:t>Gurobi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Branch-Cut-Price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2C787-916F-C2DD-F29C-705D33617DF6}"/>
              </a:ext>
            </a:extLst>
          </p:cNvPr>
          <p:cNvSpPr txBox="1"/>
          <p:nvPr/>
        </p:nvSpPr>
        <p:spPr>
          <a:xfrm>
            <a:off x="4749497" y="3280812"/>
            <a:ext cx="286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Hybrid Genetic Search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9D7F18-67B6-C16B-B545-E87F3A4BB3F1}"/>
              </a:ext>
            </a:extLst>
          </p:cNvPr>
          <p:cNvSpPr txBox="1"/>
          <p:nvPr/>
        </p:nvSpPr>
        <p:spPr>
          <a:xfrm>
            <a:off x="4749497" y="2986312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SANS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1BEA4-67B4-1F12-A4FB-AA6A9F2C1157}"/>
              </a:ext>
            </a:extLst>
          </p:cNvPr>
          <p:cNvSpPr txBox="1"/>
          <p:nvPr/>
        </p:nvSpPr>
        <p:spPr>
          <a:xfrm>
            <a:off x="4723503" y="4908256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8. Attention Model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67269-E061-A723-53B2-88110ECC8888}"/>
              </a:ext>
            </a:extLst>
          </p:cNvPr>
          <p:cNvSpPr txBox="1"/>
          <p:nvPr/>
        </p:nvSpPr>
        <p:spPr>
          <a:xfrm>
            <a:off x="4749497" y="3837877"/>
            <a:ext cx="267865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5. Hyper-Heuristic ACO</a:t>
            </a:r>
          </a:p>
          <a:p>
            <a:r>
              <a:rPr lang="en-US" b="1" dirty="0"/>
              <a:t>6. PSOMA</a:t>
            </a:r>
          </a:p>
          <a:p>
            <a:r>
              <a:rPr lang="en-US" b="1" dirty="0"/>
              <a:t>7. </a:t>
            </a:r>
            <a:r>
              <a:rPr lang="en-US" b="1" dirty="0" err="1"/>
              <a:t>PheromeXXX</a:t>
            </a:r>
            <a:r>
              <a:rPr lang="en-US" b="1" dirty="0"/>
              <a:t>-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A5027B-1B0C-1298-592C-EF43D72D9429}"/>
              </a:ext>
            </a:extLst>
          </p:cNvPr>
          <p:cNvSpPr/>
          <p:nvPr/>
        </p:nvSpPr>
        <p:spPr>
          <a:xfrm>
            <a:off x="4711850" y="1227784"/>
            <a:ext cx="2775473" cy="159632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D5C4B-EA53-2FBA-FC51-4AFCEB301E5F}"/>
              </a:ext>
            </a:extLst>
          </p:cNvPr>
          <p:cNvSpPr txBox="1"/>
          <p:nvPr/>
        </p:nvSpPr>
        <p:spPr>
          <a:xfrm>
            <a:off x="6003664" y="1238328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Exact Algorithms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E29C9F-309F-8AEE-86B0-BC504EAB1FAA}"/>
              </a:ext>
            </a:extLst>
          </p:cNvPr>
          <p:cNvSpPr/>
          <p:nvPr/>
        </p:nvSpPr>
        <p:spPr>
          <a:xfrm>
            <a:off x="4704673" y="2917165"/>
            <a:ext cx="2775473" cy="180723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BB478F-38B9-4AE8-93BE-78B802FCEDFB}"/>
              </a:ext>
            </a:extLst>
          </p:cNvPr>
          <p:cNvSpPr txBox="1"/>
          <p:nvPr/>
        </p:nvSpPr>
        <p:spPr>
          <a:xfrm>
            <a:off x="5973516" y="2918545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Metaheuristics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5F4B05-4CF2-EE48-A164-36AA9818EF16}"/>
              </a:ext>
            </a:extLst>
          </p:cNvPr>
          <p:cNvSpPr/>
          <p:nvPr/>
        </p:nvSpPr>
        <p:spPr>
          <a:xfrm>
            <a:off x="4723503" y="4587650"/>
            <a:ext cx="2775473" cy="6802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C0A782-B26B-AB32-C1C2-44B65DCAA893}"/>
              </a:ext>
            </a:extLst>
          </p:cNvPr>
          <p:cNvSpPr txBox="1"/>
          <p:nvPr/>
        </p:nvSpPr>
        <p:spPr>
          <a:xfrm>
            <a:off x="5524053" y="4577978"/>
            <a:ext cx="1963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NCO w/ Reinforcement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B6B030-7EF9-489C-DA31-29E17BC3121F}"/>
              </a:ext>
            </a:extLst>
          </p:cNvPr>
          <p:cNvSpPr txBox="1"/>
          <p:nvPr/>
        </p:nvSpPr>
        <p:spPr>
          <a:xfrm>
            <a:off x="4749497" y="3557427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ALNS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966C0D-1D93-286F-CE86-6289F14E335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501614" y="6090069"/>
            <a:ext cx="11582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EE8A687-1AC6-A08F-1716-72E7C6A5B6E1}"/>
              </a:ext>
            </a:extLst>
          </p:cNvPr>
          <p:cNvSpPr txBox="1"/>
          <p:nvPr/>
        </p:nvSpPr>
        <p:spPr>
          <a:xfrm>
            <a:off x="80684" y="5385472"/>
            <a:ext cx="228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Blind Collection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0405AA-FBCB-B5D7-75EF-243CDA1F0123}"/>
              </a:ext>
            </a:extLst>
          </p:cNvPr>
          <p:cNvSpPr txBox="1"/>
          <p:nvPr/>
        </p:nvSpPr>
        <p:spPr>
          <a:xfrm>
            <a:off x="-24653" y="1126075"/>
            <a:ext cx="228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Smart Collection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58E182-396F-C590-F590-5CA8B629BBEE}"/>
              </a:ext>
            </a:extLst>
          </p:cNvPr>
          <p:cNvSpPr txBox="1"/>
          <p:nvPr/>
        </p:nvSpPr>
        <p:spPr>
          <a:xfrm>
            <a:off x="811307" y="2726814"/>
            <a:ext cx="2889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dirty="0" err="1"/>
              <a:t>Estimativa</a:t>
            </a:r>
            <a:r>
              <a:rPr lang="en-US" dirty="0"/>
              <a:t> para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 err="1">
                <a:solidFill>
                  <a:schemeClr val="accent6"/>
                </a:solidFill>
              </a:rPr>
              <a:t>ou</a:t>
            </a:r>
            <a:r>
              <a:rPr lang="en-US" dirty="0">
                <a:solidFill>
                  <a:schemeClr val="accent6"/>
                </a:solidFill>
              </a:rPr>
              <a:t> 2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com </a:t>
            </a:r>
            <a:r>
              <a:rPr lang="en-US" b="1" dirty="0" err="1"/>
              <a:t>Nível</a:t>
            </a:r>
            <a:r>
              <a:rPr lang="en-US" b="1" dirty="0"/>
              <a:t> de </a:t>
            </a:r>
            <a:r>
              <a:rPr lang="en-US" b="1" dirty="0" err="1"/>
              <a:t>Serviço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média</a:t>
            </a:r>
            <a:r>
              <a:rPr lang="en-US" dirty="0"/>
              <a:t> + </a:t>
            </a:r>
            <a:r>
              <a:rPr lang="en-US" dirty="0" err="1">
                <a:solidFill>
                  <a:schemeClr val="accent6"/>
                </a:solidFill>
              </a:rPr>
              <a:t>z</a:t>
            </a:r>
            <a:r>
              <a:rPr lang="en-US" dirty="0" err="1"/>
              <a:t>Desvio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3ADC8A-0E50-B6F3-2625-E5659E82990F}"/>
              </a:ext>
            </a:extLst>
          </p:cNvPr>
          <p:cNvSpPr txBox="1"/>
          <p:nvPr/>
        </p:nvSpPr>
        <p:spPr>
          <a:xfrm>
            <a:off x="8458198" y="1711585"/>
            <a:ext cx="12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Path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0D6FE2-AE4F-C297-A2DA-89D9A783A8E3}"/>
              </a:ext>
            </a:extLst>
          </p:cNvPr>
          <p:cNvSpPr txBox="1"/>
          <p:nvPr/>
        </p:nvSpPr>
        <p:spPr>
          <a:xfrm>
            <a:off x="8483302" y="687894"/>
            <a:ext cx="2398058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Pos-</a:t>
            </a:r>
            <a:r>
              <a:rPr lang="en-US" dirty="0" err="1"/>
              <a:t>Processamento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50CED9-3730-B7D0-D87B-4F97990254E0}"/>
              </a:ext>
            </a:extLst>
          </p:cNvPr>
          <p:cNvSpPr txBox="1"/>
          <p:nvPr/>
        </p:nvSpPr>
        <p:spPr>
          <a:xfrm>
            <a:off x="8470303" y="2776168"/>
            <a:ext cx="145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Fast TSP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DC543F-F3E3-67EA-C717-D5F012869848}"/>
              </a:ext>
            </a:extLst>
          </p:cNvPr>
          <p:cNvSpPr txBox="1"/>
          <p:nvPr/>
        </p:nvSpPr>
        <p:spPr>
          <a:xfrm>
            <a:off x="8483302" y="3380175"/>
            <a:ext cx="190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Local Search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49F022-5539-D5F2-9398-964EA1756B1C}"/>
              </a:ext>
            </a:extLst>
          </p:cNvPr>
          <p:cNvCxnSpPr/>
          <p:nvPr/>
        </p:nvCxnSpPr>
        <p:spPr>
          <a:xfrm>
            <a:off x="161364" y="5385472"/>
            <a:ext cx="113600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8D9C0B-093D-CB93-09F6-2AF3A4BD2DBC}"/>
              </a:ext>
            </a:extLst>
          </p:cNvPr>
          <p:cNvSpPr txBox="1"/>
          <p:nvPr/>
        </p:nvSpPr>
        <p:spPr>
          <a:xfrm>
            <a:off x="4756674" y="5882321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CVRP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6342A1D-EE1E-2592-9367-E800A889C82B}"/>
              </a:ext>
            </a:extLst>
          </p:cNvPr>
          <p:cNvSpPr/>
          <p:nvPr/>
        </p:nvSpPr>
        <p:spPr>
          <a:xfrm>
            <a:off x="8352414" y="1610702"/>
            <a:ext cx="2775473" cy="79613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76963C-F331-56FD-2DB5-00CE255B10E0}"/>
              </a:ext>
            </a:extLst>
          </p:cNvPr>
          <p:cNvSpPr txBox="1"/>
          <p:nvPr/>
        </p:nvSpPr>
        <p:spPr>
          <a:xfrm>
            <a:off x="9682331" y="1620824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/>
              <a:t>Insere</a:t>
            </a:r>
            <a:r>
              <a:rPr lang="en-US" sz="1200" dirty="0"/>
              <a:t> </a:t>
            </a:r>
            <a:r>
              <a:rPr lang="en-US" sz="1200" dirty="0" err="1"/>
              <a:t>novos</a:t>
            </a:r>
            <a:r>
              <a:rPr lang="en-US" sz="1200" dirty="0"/>
              <a:t> bins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A3E941D-74B0-70DF-EF13-BD28D725A613}"/>
              </a:ext>
            </a:extLst>
          </p:cNvPr>
          <p:cNvSpPr/>
          <p:nvPr/>
        </p:nvSpPr>
        <p:spPr>
          <a:xfrm>
            <a:off x="8352413" y="2621030"/>
            <a:ext cx="2775473" cy="120032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1D7B05-8D86-62A5-52A1-DD125E83FAD7}"/>
              </a:ext>
            </a:extLst>
          </p:cNvPr>
          <p:cNvSpPr txBox="1"/>
          <p:nvPr/>
        </p:nvSpPr>
        <p:spPr>
          <a:xfrm>
            <a:off x="9664172" y="2641062"/>
            <a:ext cx="1457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/>
              <a:t>Reformula</a:t>
            </a:r>
            <a:r>
              <a:rPr lang="en-US" sz="1200" dirty="0"/>
              <a:t> a </a:t>
            </a:r>
            <a:r>
              <a:rPr lang="en-US" sz="1200" dirty="0" err="1"/>
              <a:t>rota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3C46E-FA7D-3606-3A13-2FB12B8FAE2E}"/>
              </a:ext>
            </a:extLst>
          </p:cNvPr>
          <p:cNvSpPr txBox="1"/>
          <p:nvPr/>
        </p:nvSpPr>
        <p:spPr>
          <a:xfrm>
            <a:off x="414168" y="118334"/>
            <a:ext cx="102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Artigo</a:t>
            </a:r>
            <a:r>
              <a:rPr lang="en-US" dirty="0"/>
              <a:t> [Computers and OR] </a:t>
            </a:r>
            <a:r>
              <a:rPr lang="en-US" dirty="0" err="1"/>
              <a:t>ou</a:t>
            </a:r>
            <a:r>
              <a:rPr lang="en-US" dirty="0"/>
              <a:t> [Applied Soft Computing] + </a:t>
            </a:r>
            <a:r>
              <a:rPr lang="en-US" dirty="0" err="1"/>
              <a:t>Apresentação</a:t>
            </a:r>
            <a:r>
              <a:rPr lang="en-US" dirty="0"/>
              <a:t> na </a:t>
            </a:r>
            <a:r>
              <a:rPr lang="en-US" dirty="0" err="1"/>
              <a:t>Conferência</a:t>
            </a:r>
            <a:r>
              <a:rPr lang="en-US" dirty="0"/>
              <a:t> Optimization</a:t>
            </a:r>
          </a:p>
        </p:txBody>
      </p:sp>
    </p:spTree>
    <p:extLst>
      <p:ext uri="{BB962C8B-B14F-4D97-AF65-F5344CB8AC3E}">
        <p14:creationId xmlns:p14="http://schemas.microsoft.com/office/powerpoint/2010/main" val="278654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501A-F41B-7069-CA48-3CD4242C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7B1A0-C413-449D-E228-FD2594D50B29}"/>
              </a:ext>
            </a:extLst>
          </p:cNvPr>
          <p:cNvSpPr txBox="1"/>
          <p:nvPr/>
        </p:nvSpPr>
        <p:spPr>
          <a:xfrm>
            <a:off x="414168" y="118334"/>
            <a:ext cx="102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Artigo</a:t>
            </a:r>
            <a:r>
              <a:rPr lang="en-US" dirty="0"/>
              <a:t> [Computers and OR] </a:t>
            </a:r>
            <a:r>
              <a:rPr lang="en-US" dirty="0" err="1"/>
              <a:t>ou</a:t>
            </a:r>
            <a:r>
              <a:rPr lang="en-US" dirty="0"/>
              <a:t> [Applied Soft Computing] + </a:t>
            </a:r>
            <a:r>
              <a:rPr lang="en-US" dirty="0" err="1"/>
              <a:t>Apresentação</a:t>
            </a:r>
            <a:r>
              <a:rPr lang="en-US" dirty="0"/>
              <a:t> na </a:t>
            </a:r>
            <a:r>
              <a:rPr lang="en-US" dirty="0" err="1"/>
              <a:t>Conferência</a:t>
            </a:r>
            <a:r>
              <a:rPr lang="en-US" dirty="0"/>
              <a:t>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37251-5BAA-8AE0-428F-7ACAB315DF2E}"/>
              </a:ext>
            </a:extLst>
          </p:cNvPr>
          <p:cNvSpPr txBox="1"/>
          <p:nvPr/>
        </p:nvSpPr>
        <p:spPr>
          <a:xfrm>
            <a:off x="816235" y="911346"/>
            <a:ext cx="10246659" cy="4093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Rede: 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contentores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todos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algoritmos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170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contentores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Melhor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Must Go +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Todas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Melhor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Pos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Processamento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340 contentores (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Melhor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Must Go + Top 2/3/4 +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Melhor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Pos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Processamento</a:t>
            </a: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)_Figueira da Foz</a:t>
            </a:r>
          </a:p>
          <a:p>
            <a:pPr marR="0" lvl="0">
              <a:lnSpc>
                <a:spcPct val="115000"/>
              </a:lnSpc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Demand: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Gamma 3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Empírica (com base na média e desvio-padrão)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Horizonte Temporal: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- 30 dias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- 90 dias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71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1263-91E2-F3CB-444B-9DFC6BF4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49285-ACCF-693B-8AB2-7ACC52E1345F}"/>
              </a:ext>
            </a:extLst>
          </p:cNvPr>
          <p:cNvSpPr txBox="1"/>
          <p:nvPr/>
        </p:nvSpPr>
        <p:spPr>
          <a:xfrm>
            <a:off x="414168" y="118334"/>
            <a:ext cx="102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Artigo</a:t>
            </a:r>
            <a:r>
              <a:rPr lang="en-US" dirty="0"/>
              <a:t> de </a:t>
            </a:r>
            <a:r>
              <a:rPr lang="en-US" dirty="0" err="1"/>
              <a:t>Revisão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55A64-88D3-F1C4-40B2-587F7D9F646A}"/>
              </a:ext>
            </a:extLst>
          </p:cNvPr>
          <p:cNvSpPr txBox="1"/>
          <p:nvPr/>
        </p:nvSpPr>
        <p:spPr>
          <a:xfrm>
            <a:off x="816235" y="911346"/>
            <a:ext cx="10246659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Revisão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extensiva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algoritmos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6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19C8-9E42-4714-EA66-EB44A626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5A3C59-9640-EE8D-AE16-E32AC67D7C28}"/>
              </a:ext>
            </a:extLst>
          </p:cNvPr>
          <p:cNvSpPr txBox="1"/>
          <p:nvPr/>
        </p:nvSpPr>
        <p:spPr>
          <a:xfrm>
            <a:off x="414168" y="255220"/>
            <a:ext cx="102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Plano de </a:t>
            </a:r>
            <a:r>
              <a:rPr lang="en-US" b="1" dirty="0" err="1"/>
              <a:t>Acção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1C46A-9A6F-33F2-8163-6891FCEC85E5}"/>
              </a:ext>
            </a:extLst>
          </p:cNvPr>
          <p:cNvSpPr txBox="1"/>
          <p:nvPr/>
        </p:nvSpPr>
        <p:spPr>
          <a:xfrm>
            <a:off x="816235" y="590781"/>
            <a:ext cx="10246659" cy="2500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Software: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Atualizar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Fluxograma_Está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Feito.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TR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Separar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algoritmos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serem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registados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restantes_Está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feito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 de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Ficheiros_WIP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Ficheiro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Execut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ável_WIP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Afonso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faz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até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strike="sng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24/Abril </a:t>
            </a: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04/Maio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Manuel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até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strike="sng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27/</a:t>
            </a:r>
            <a:r>
              <a:rPr lang="en-US" sz="1800" b="1" strike="sngStrike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abril</a:t>
            </a: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06/Maio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321E9-2A53-1A12-6103-B794BD2ABBED}"/>
              </a:ext>
            </a:extLst>
          </p:cNvPr>
          <p:cNvSpPr txBox="1"/>
          <p:nvPr/>
        </p:nvSpPr>
        <p:spPr>
          <a:xfrm>
            <a:off x="816235" y="3052638"/>
            <a:ext cx="10246659" cy="376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Artigo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Apresentação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Optimization (20, 21 e 22 de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julho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Já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está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feito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30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todas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combinações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except PSO e Ant Colony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empirica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gamma, 100 e 170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Já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está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feito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90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100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contentores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Falta: 90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170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contentores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Falta: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340 bins (TR)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Tânia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Matriz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enchimento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diário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Figueira Foz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sz="1800" strike="sng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Tânia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trike="sngStrike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trike="sngStrike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conferência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Optimization + </a:t>
            </a:r>
            <a:r>
              <a:rPr lang="en-US" strike="sngStrike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Pedir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à FCT para </a:t>
            </a:r>
            <a:r>
              <a:rPr lang="en-US" strike="sngStrike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incluir</a:t>
            </a: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Afonso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Tânia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paper de Review 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Taxonomia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Tx/>
              <a:buChar char="-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Afonso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trazer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estrutura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artigo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discutirmos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1bdbfdb-e545-4b0a-be73-a8df7c15af17" xsi:nil="true"/>
    <lcf76f155ced4ddcb4097134ff3c332f xmlns="8e055a2b-dc9d-4ec2-867d-94a5f28497e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9EFB57C54328E4BA91D18A0138AC2E4" ma:contentTypeVersion="10" ma:contentTypeDescription="Criar um novo documento." ma:contentTypeScope="" ma:versionID="58d81fb5ba7b1921f2f9b17165c34ca1">
  <xsd:schema xmlns:xsd="http://www.w3.org/2001/XMLSchema" xmlns:xs="http://www.w3.org/2001/XMLSchema" xmlns:p="http://schemas.microsoft.com/office/2006/metadata/properties" xmlns:ns2="8e055a2b-dc9d-4ec2-867d-94a5f28497e7" xmlns:ns3="b1bdbfdb-e545-4b0a-be73-a8df7c15af17" targetNamespace="http://schemas.microsoft.com/office/2006/metadata/properties" ma:root="true" ma:fieldsID="08658367149e4301dbf30b034bc84bbd" ns2:_="" ns3:_="">
    <xsd:import namespace="8e055a2b-dc9d-4ec2-867d-94a5f28497e7"/>
    <xsd:import namespace="b1bdbfdb-e545-4b0a-be73-a8df7c15af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055a2b-dc9d-4ec2-867d-94a5f28497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632f545a-f984-4dd3-ab31-738ecd40a7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dbfdb-e545-4b0a-be73-a8df7c15af1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5a10903-b4b4-445a-9a71-22f9616e6758}" ma:internalName="TaxCatchAll" ma:showField="CatchAllData" ma:web="b1bdbfdb-e545-4b0a-be73-a8df7c15af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17260B-7B79-4A31-8EAB-4AADBE8E0241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8e055a2b-dc9d-4ec2-867d-94a5f28497e7"/>
    <ds:schemaRef ds:uri="http://schemas.openxmlformats.org/package/2006/metadata/core-properties"/>
    <ds:schemaRef ds:uri="http://www.w3.org/XML/1998/namespace"/>
    <ds:schemaRef ds:uri="http://purl.org/dc/elements/1.1/"/>
    <ds:schemaRef ds:uri="b1bdbfdb-e545-4b0a-be73-a8df7c15af17"/>
  </ds:schemaRefs>
</ds:datastoreItem>
</file>

<file path=customXml/itemProps2.xml><?xml version="1.0" encoding="utf-8"?>
<ds:datastoreItem xmlns:ds="http://schemas.openxmlformats.org/officeDocument/2006/customXml" ds:itemID="{533D6D18-C888-493E-808A-F223914F0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055a2b-dc9d-4ec2-867d-94a5f28497e7"/>
    <ds:schemaRef ds:uri="b1bdbfdb-e545-4b0a-be73-a8df7c15a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1D4E2-1780-40D0-95EB-B18284A495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519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Tânia Ramos</dc:creator>
  <cp:lastModifiedBy>Tânia Ramos</cp:lastModifiedBy>
  <cp:revision>4</cp:revision>
  <dcterms:created xsi:type="dcterms:W3CDTF">2026-02-04T11:21:27Z</dcterms:created>
  <dcterms:modified xsi:type="dcterms:W3CDTF">2026-04-30T10:42:02Z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0x01010089EFB57C54328E4BA91D18A0138AC2E4</vt:lpwstr>
  </property>
  <property fmtid="{D5CDD505-2E9C-101B-9397-08002B2CF9AE}" pid="3" name="MediaServiceImageTags">
    <vt:lpwstr/>
  </property>
</Properties>
</file>