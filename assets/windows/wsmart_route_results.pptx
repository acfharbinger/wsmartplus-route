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WSmart+ Route — Adaptive Routing Policies for Smart Waste Collection</a:t>
            </a:r>
          </a:p>
          <a:p>
            <a:pPr>
              <a:defRPr sz="20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Afonso Fernandes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The Vehicle Routing Problem with Profits (VRPP)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Routing Simulator Philosophy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Exact Solvers: BPC &amp; SWC-TCF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Meta-Heuristics &amp; Hyper-Heuristics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6.  Evolutionary Algorithms: HGS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7.  Swarm Intelligence: PSOMA &amp; ACO-HH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8.  Neighborhood Search: SANS &amp; PG-CLNS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9.  Route Improvers: Classical Local Search vs Fast-TSP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10.  Results — Pareto Front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11.  Results — Summary KPI Analysis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12.  Results — Per-Scenario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13.  Results — Policy × Scenario Heatmaps (90 days)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14.  Results — Route Improver Comparison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12" y="1234440"/>
            <a:ext cx="638807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1: </a:t>
            </a:r>
            <a:r>
              <a:rPr i="1" sz="1100">
                <a:solidFill>
                  <a:srgbClr val="5A6A7A"/>
                </a:solidFill>
              </a:rPr>
              <a:t>Objective: maximise collected profit minus travel cost, choosing which nodes y to visit and how x routes them, subject to the vehicle capacity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1: </a:t>
            </a:r>
            <a:r>
              <a:rPr i="1" sz="1100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7432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586" y="1234440"/>
            <a:ext cx="7900522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2: </a:t>
            </a:r>
            <a:r>
              <a:rPr i="1" sz="1100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1109441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anticipates predicted overflows; Last-Minute waits for a critical fill threshold; Service-Level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Solvers: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16" y="1234440"/>
            <a:ext cx="9853863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3: </a:t>
            </a:r>
            <a:r>
              <a:rPr i="1" sz="1100">
                <a:solidFill>
                  <a:srgbClr val="5A6A7A"/>
                </a:solidFill>
              </a:rPr>
              <a:t>Set-partitioning master problem: choose a minimum-cost combination of routes r ∈ Ω (weight λ_r) such that every node i is covered exactly once (a_ir = 1 iff route r visits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838" y="1234440"/>
            <a:ext cx="9230019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4: </a:t>
            </a:r>
            <a:r>
              <a:rPr i="1" sz="1100">
                <a:solidFill>
                  <a:srgbClr val="5A6A7A"/>
                </a:solidFill>
              </a:rPr>
              <a:t>A meta-heuristic maps the incumbent x_t to a new candidate via operator A parameterised by θ_t, updated from feedback; a hyper-heuristic instead searches over low-level heuristics h ∈ H, picking the one with highest estimated value Q_t(h)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solvers'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Meta-heuristics balance exploration (diversify, escape local optima) and exploitation (intensify, polish good solutions)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Hyper-heuristics search the space of heuristics itself, learning which low-level operator to apply next (e.g. ACO-HH)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 studied: evolutionary (HGS), swarm intelligence (PSOMA, ACO-HH), neighborhood search (SANS, PG-CLNS)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Evolutionary Algorithms — HGS (Hybrid Genetic Search)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7" y="1234440"/>
            <a:ext cx="10420681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5: </a:t>
            </a:r>
            <a:r>
              <a:rPr i="1" sz="1100">
                <a:solidFill>
                  <a:srgbClr val="5A6A7A"/>
                </a:solidFill>
              </a:rPr>
              <a:t>Biased fitness function used to rank current solutions by both quality and diversity. n_pop is the current population size and n_elite the number of elite (best-cost) individuals; individuals outside the elite are increasingly rewarded for contributing diversity.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Population-based: parents recombine via ordered crossover; every offspring is 'educated' by aggressive local search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Biased fitness (above) blends solution quality with diversity contribution — prevents premature convergence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Infeasible individuals survive in a penalised sub-population, letting the search cross infeasible regions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State-of-the-art on classical CVRP; strong efficiency performer here when paired with the CLS improver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Swarm Intelligence — PSOMA &amp; ACO-HH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797" y="1234440"/>
            <a:ext cx="749410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6: </a:t>
            </a:r>
            <a:r>
              <a:rPr i="1" sz="1100">
                <a:solidFill>
                  <a:srgbClr val="5A6A7A"/>
                </a:solidFill>
              </a:rPr>
              <a:t>PSO velocity update: particle i moves toward its personal best p_i and the global best g under inertia ω and acceleration coefficients c1, c2. ACO pheromone update: pheromone τ_h on heuristic h decays by evaporation rate ρ and is reinforced by the deposits Δτ_h of the k ants that used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Many simple agents share information; global order emerges from local interactions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PSOMA: particles attracted by personal/global bests + a memetic local-search refinement phase — consistent best-overflow performer in the empirical scenarios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ACO-HH: pheromones are laid over low-level heuristics (h) rather than arcs — the colony learns the best sequence of constructive operators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 is the most robust all-rounder: Pareto-optimal in multiple scenarios (zero-overflow SL2 configs at FFZ-350)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Neighborhood Search — SANS &amp; PG-CLNS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835" y="1234440"/>
            <a:ext cx="8398025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7: </a:t>
            </a:r>
            <a:r>
              <a:rPr i="1" sz="1100">
                <a:solidFill>
                  <a:srgbClr val="5A6A7A"/>
                </a:solidFill>
              </a:rPr>
              <a:t>Simulated annealing accepts a worsening move with probability e^(−Δ/T_t), cooling temperature T by factor γ each iteration. PG-CLNS learns its destroy/repair operator choice o via the policy-gradient estimator ∇_θJ, using state s (fill levels, geography) and observed reward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Trajectory-based: iteratively perturb the incumbent through neighbourhood moves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SANS: simulated annealing accepts worsening moves with probability e^(−Δ/T); cooling shifts exploration → exploitation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PG-CLNS: destroy-and-repair large-neighborhood search whose operator selection is learned online via policy gradients, adapting to instance context (fill levels, geography)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 is a standout overflow performer: SL1 + PG-CLNS reaches the Pareto front with ~1 overflow / 30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168" y="1234440"/>
            <a:ext cx="9151358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8: </a:t>
            </a:r>
            <a:r>
              <a:rPr i="1" sz="1100">
                <a:solidFill>
                  <a:srgbClr val="5A6A7A"/>
                </a:solidFill>
              </a:rPr>
              <a:t>2-opt accepts an edge swap whenever the resulting distance change Δ is negative. Fast-TSP reorders each route's visiting sequence π to minimise total distance — solved exactly for small routes and via Stochastic Local Search (SLS) once N exceeds 20 stops.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3163"/>
            <a:ext cx="11460175" cy="42574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2: </a:t>
            </a:r>
            <a:r>
              <a:rPr i="1" sz="1100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337" y="1051560"/>
            <a:ext cx="8275020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182" y="3611880"/>
            <a:ext cx="827733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3: </a:t>
            </a:r>
            <a:r>
              <a:rPr i="1" sz="1100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432" y="1051560"/>
            <a:ext cx="90579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4: </a:t>
            </a:r>
            <a:r>
              <a:rPr i="1" sz="1100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84" y="1051560"/>
            <a:ext cx="4706518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988" y="1051560"/>
            <a:ext cx="467036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5: </a:t>
            </a:r>
            <a:r>
              <a:rPr i="1" sz="1100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4755"/>
            <a:ext cx="11460175" cy="465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6: </a:t>
            </a:r>
            <a:r>
              <a:rPr i="1" sz="1100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E74B5"/>
                </a:solidFill>
              </a:defRPr>
            </a:pPr>
            <a:r>
              <a:t>Improver: FTSP</a:t>
            </a:r>
          </a:p>
        </p:txBody>
      </p:sp>
      <p:pic>
        <p:nvPicPr>
          <p:cNvPr id="4" name="Picture 3" descr="full_results_table_improver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9833"/>
            <a:ext cx="11643055" cy="1677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52044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E74B5"/>
                </a:solidFill>
              </a:defRPr>
            </a:pPr>
            <a:r>
              <a:t>Improver: CLS</a:t>
            </a:r>
          </a:p>
        </p:txBody>
      </p:sp>
      <p:pic>
        <p:nvPicPr>
          <p:cNvPr id="6" name="Picture 5" descr="full_results_table_improve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48713"/>
            <a:ext cx="11643055" cy="16775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Table 1: </a:t>
            </a:r>
            <a:r>
              <a:rPr i="1" sz="1100">
                <a:solidFill>
                  <a:srgbClr val="5A6A7A"/>
                </a:solidFill>
              </a:rPr>
              <a:t>Full results table — rows: graph size × region × data distribution; columns: partitioned by route improver (FTSP, CLS), one partial table per value; each partial table then grouped by mandatory selection strategy × route constructor. Each cell reports mean±std overflows and mean±std kg/km.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33266"/>
            <a:ext cx="5730087" cy="48315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7: </a:t>
            </a:r>
            <a:r>
              <a:rPr i="1" sz="1100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