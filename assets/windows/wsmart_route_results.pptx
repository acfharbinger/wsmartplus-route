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7315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4577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WSmart+ Route — Adaptive Routing Policies for Smart Waste Collection</a:t>
            </a:r>
          </a:p>
          <a:p>
            <a:pPr>
              <a:defRPr sz="2000">
                <a:solidFill>
                  <a:srgbClr val="C9D6E4"/>
                </a:solidFill>
              </a:defRPr>
            </a:pPr>
            <a:r>
              <a:t>Simulation Study of Selection Strategies, Route Constructors and Improvers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34840"/>
            <a:ext cx="1054577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Afonso Fernandes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5364327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1.  The Vehicle Routing Problem with Profits (VRPP)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2.  Routing Simulator Philosophy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3.  Mandatory Node Selection Strategies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4.  Exact Solvers: BPC &amp; SWC-TCF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5.  Meta-Heuristics &amp; Hyper-Heuristics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6.  Evolutionary Algorithms: HGS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7.  Swarm Intelligence: PSOMA &amp; ACO-HH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8.  Neighborhood Search: SANS &amp; PG-CLNS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1280160"/>
            <a:ext cx="5364327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9.  Route Improvers: Classical Local Search vs Fast-TSP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10.  Results — Pareto Front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11.  Results — Summary KPI Analysis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12.  Results — Per-Scenario Heatmaps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13.  Results — Policy × Scenario Heatmaps (90 days)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14.  Results — Route Improver Comparison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15.  Conclusions, Limitations &amp; Future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The Problem: Vehicle Routing Problem with Profits (VRPP)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11094415" cy="2057400"/>
          </a:xfrm>
          <a:prstGeom prst="round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q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1812" y="1234440"/>
            <a:ext cx="6388070" cy="1874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42900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Equation 1: </a:t>
            </a:r>
            <a:r>
              <a:rPr i="1" sz="1100">
                <a:solidFill>
                  <a:srgbClr val="5A6A7A"/>
                </a:solidFill>
              </a:rPr>
              <a:t>Objective: maximise collected profit minus travel cost, choosing which nodes y to visit and how x routes them, subject to the vehicle capacity Q.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94760"/>
            <a:ext cx="11094415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Unlike the classical VRP, only a profitable subset of nodes is visited: profit p_i (waste kg) vs travel cost c·d_ij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In waste collection bins fill stochastically day by day — skipping a bin saves distance but risks overflow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Two conflicting KPIs: bin overflows (service quality, ↓) and kg/km route efficiency (cost, ↑)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Multi-day sequential decision problem over scenarios: RM-100, RM-170, FFZ-350 × {Empirical, Gamma-3} × {30, 90} days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Routing Simulator Philosophy — Modular Policy Pipeline</a:t>
            </a:r>
          </a:p>
        </p:txBody>
      </p:sp>
      <p:sp>
        <p:nvSpPr>
          <p:cNvPr id="3" name="Chevron 2"/>
          <p:cNvSpPr/>
          <p:nvPr/>
        </p:nvSpPr>
        <p:spPr>
          <a:xfrm>
            <a:off x="548640" y="1554480"/>
            <a:ext cx="2602153" cy="1371600"/>
          </a:xfrm>
          <a:prstGeom prst="chevron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Mandatory bin</a:t>
            </a:r>
          </a:p>
          <a:p>
            <a:pPr algn="ctr">
              <a:defRPr sz="1500" b="1">
                <a:solidFill>
                  <a:srgbClr val="FFFFFF"/>
                </a:solidFill>
              </a:defRPr>
            </a:pPr>
            <a:r>
              <a:t>selection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017520"/>
            <a:ext cx="260215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5A6A7A"/>
                </a:solidFill>
              </a:defRPr>
            </a:pPr>
            <a:r>
              <a:t>LA · LM · SL</a:t>
            </a:r>
          </a:p>
          <a:p>
            <a:pPr algn="ctr">
              <a:defRPr sz="1200">
                <a:solidFill>
                  <a:srgbClr val="5A6A7A"/>
                </a:solidFill>
              </a:defRPr>
            </a:pPr>
            <a:r>
              <a:t>which bins today?</a:t>
            </a:r>
          </a:p>
        </p:txBody>
      </p:sp>
      <p:sp>
        <p:nvSpPr>
          <p:cNvPr id="5" name="Chevron 4"/>
          <p:cNvSpPr/>
          <p:nvPr/>
        </p:nvSpPr>
        <p:spPr>
          <a:xfrm>
            <a:off x="3379393" y="1554480"/>
            <a:ext cx="2602153" cy="1371600"/>
          </a:xfrm>
          <a:prstGeom prst="chevron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Route</a:t>
            </a:r>
          </a:p>
          <a:p>
            <a:pPr algn="ctr">
              <a:defRPr sz="1500" b="1">
                <a:solidFill>
                  <a:srgbClr val="FFFFFF"/>
                </a:solidFill>
              </a:defRPr>
            </a:pPr>
            <a:r>
              <a:t>constructor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79393" y="3017520"/>
            <a:ext cx="260215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5A6A7A"/>
                </a:solidFill>
              </a:defRPr>
            </a:pPr>
            <a:r>
              <a:t>exact · meta-h. · hyper-h.</a:t>
            </a:r>
          </a:p>
          <a:p>
            <a:pPr algn="ctr">
              <a:defRPr sz="1200">
                <a:solidFill>
                  <a:srgbClr val="5A6A7A"/>
                </a:solidFill>
              </a:defRPr>
            </a:pPr>
            <a:r>
              <a:t>build the routes</a:t>
            </a:r>
          </a:p>
        </p:txBody>
      </p:sp>
      <p:sp>
        <p:nvSpPr>
          <p:cNvPr id="7" name="Chevron 6"/>
          <p:cNvSpPr/>
          <p:nvPr/>
        </p:nvSpPr>
        <p:spPr>
          <a:xfrm>
            <a:off x="6210146" y="1554480"/>
            <a:ext cx="2602153" cy="1371600"/>
          </a:xfrm>
          <a:prstGeom prst="chevron">
            <a:avLst/>
          </a:prstGeom>
          <a:solidFill>
            <a:srgbClr val="5A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Acceptance criterion</a:t>
            </a:r>
          </a:p>
          <a:p>
            <a:pPr algn="ctr">
              <a:defRPr sz="1500" b="1">
                <a:solidFill>
                  <a:srgbClr val="FFFFFF"/>
                </a:solidFill>
              </a:defRPr>
            </a:pPr>
            <a:r>
              <a:t>(optional)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0146" y="3017520"/>
            <a:ext cx="260215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5A6A7A"/>
                </a:solidFill>
              </a:defRPr>
            </a:pPr>
            <a:r>
              <a:t>constructor-dependent</a:t>
            </a:r>
          </a:p>
          <a:p>
            <a:pPr algn="ctr">
              <a:defRPr sz="1200">
                <a:solidFill>
                  <a:srgbClr val="5A6A7A"/>
                </a:solidFill>
              </a:defRPr>
            </a:pPr>
            <a:r>
              <a:t>e.g. BMC, OI</a:t>
            </a:r>
          </a:p>
        </p:txBody>
      </p:sp>
      <p:sp>
        <p:nvSpPr>
          <p:cNvPr id="9" name="Chevron 8"/>
          <p:cNvSpPr/>
          <p:nvPr/>
        </p:nvSpPr>
        <p:spPr>
          <a:xfrm>
            <a:off x="9040899" y="1554480"/>
            <a:ext cx="2602153" cy="1371600"/>
          </a:xfrm>
          <a:prstGeom prst="chevron">
            <a:avLst/>
          </a:prstGeom>
          <a:solidFill>
            <a:srgbClr val="5A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Route improver</a:t>
            </a:r>
          </a:p>
          <a:p>
            <a:pPr algn="ctr">
              <a:defRPr sz="1500" b="1">
                <a:solidFill>
                  <a:srgbClr val="FFFFFF"/>
                </a:solidFill>
              </a:defRPr>
            </a:pPr>
            <a:r>
              <a:t>(optional)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40899" y="3017520"/>
            <a:ext cx="260215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5A6A7A"/>
                </a:solidFill>
              </a:defRPr>
            </a:pPr>
            <a:r>
              <a:t>CLS · FTSP</a:t>
            </a:r>
          </a:p>
          <a:p>
            <a:pPr algn="ctr">
              <a:defRPr sz="1200">
                <a:solidFill>
                  <a:srgbClr val="5A6A7A"/>
                </a:solidFill>
              </a:defRPr>
            </a:pPr>
            <a:r>
              <a:t>post-optimisation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4023360"/>
            <a:ext cx="6522415" cy="731520"/>
          </a:xfrm>
          <a:prstGeom prst="round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Multi-day simulator: region × graph size × distribution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12064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Figure 1: </a:t>
            </a:r>
            <a:r>
              <a:rPr i="1" sz="1100">
                <a:solidFill>
                  <a:srgbClr val="5A6A7A"/>
                </a:solidFill>
              </a:rPr>
              <a:t>Every daily routing policy decomposes into a mandatory bin-selection strategy, a route constructor, an optional acceptance criterion and an optional route improver.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486400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Every daily routing policy is a composition of interchangeable stages, benchmarked under identical conditions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The simulator replays multi-day scenarios (region × graph size × waste distribution), logging overflows, kg, km, kg/km and profit for every policy combination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Mandatory Node Selection Strategies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11094415" cy="2743200"/>
          </a:xfrm>
          <a:prstGeom prst="round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q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5586" y="1234440"/>
            <a:ext cx="7900522" cy="2560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11480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Equation 2: </a:t>
            </a:r>
            <a:r>
              <a:rPr i="1" sz="1100">
                <a:solidFill>
                  <a:srgbClr val="5A6A7A"/>
                </a:solidFill>
              </a:rPr>
              <a:t>The three mandatory selection rules — Look-Ahead (LA) forecasts fill level f_i at t+δ, Last-Minute (LM) reacts once f_i crosses a critical fill threshold CF, and Service-Level (SL) bounds each bin's overflow probability by a target confidence 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80560"/>
            <a:ext cx="1109441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Look-Ahead anticipates predicted overflows; Last-Minute waits for a critical fill threshold; Service-Level bounds each bin's overflow probability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Empirical trade-off: LM dominates efficiency (kg/km), SL dominates overflow prevention, LA sits in between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The choice spans the service-quality vs cost spectrum — an operational decision, not an algorithmic one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Exact Solvers: BPC &amp; SWC-TCF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11094415" cy="1371600"/>
          </a:xfrm>
          <a:prstGeom prst="round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q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8916" y="1234440"/>
            <a:ext cx="9853863" cy="1188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274320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Equation 3: </a:t>
            </a:r>
            <a:r>
              <a:rPr i="1" sz="1100">
                <a:solidFill>
                  <a:srgbClr val="5A6A7A"/>
                </a:solidFill>
              </a:rPr>
              <a:t>Set-partitioning master problem: choose a minimum-cost combination of routes r ∈ Ω (weight λ_r) such that every node i is covered exactly once (a_ir = 1 iff route r visits i).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108960"/>
            <a:ext cx="11094415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Branch-Price-and-Cut (BPC): column generation over the route set Ω with cutting planes — proven optimality (BHV2000 lineage)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Pricing subproblem: elementary shortest path with resource constraints, accelerated by ng-route relaxation and limited-memory cuts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SWC-TCF: exact set-partitioning over Clarke-Wright-style savings columns with traffic-congestion-adjusted costs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Both provide optimality reference points; exponential worst-case runtime limits them to the daily subproblem sizes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Meta-Heuristics &amp; Hyper-Heuristics — Overarching Philosophy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11094415" cy="2057400"/>
          </a:xfrm>
          <a:prstGeom prst="round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q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0838" y="1234440"/>
            <a:ext cx="9230019" cy="1874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42900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Equation 4: </a:t>
            </a:r>
            <a:r>
              <a:rPr i="1" sz="1100">
                <a:solidFill>
                  <a:srgbClr val="5A6A7A"/>
                </a:solidFill>
              </a:rPr>
              <a:t>A meta-heuristic maps the incumbent x_t to a new candidate via operator A parameterised by θ_t, updated from feedback; a hyper-heuristic instead searches over low-level heuristics h ∈ H, picking the one with highest estimated value Q_t(h) at each step.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94760"/>
            <a:ext cx="11094415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Heuristic search trades a small optimality gap for polynomial runtime — essential beyond the exact solvers' size limits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Meta-heuristics balance exploration (diversify, escape local optima) and exploitation (intensify, polish good solutions)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Hyper-heuristics search the space of heuristics itself, learning which low-level operator to apply next (e.g. ACO-HH)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Three families studied: evolutionary (HGS), swarm intelligence (PSOMA, ACO-HH), neighborhood search (SANS, PG-CLNS)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Evolutionary Algorithms — HGS (Hybrid Genetic Search)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11094415" cy="1371600"/>
          </a:xfrm>
          <a:prstGeom prst="round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q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507" y="1234440"/>
            <a:ext cx="10420681" cy="1188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274320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Equation 5: </a:t>
            </a:r>
            <a:r>
              <a:rPr i="1" sz="1100">
                <a:solidFill>
                  <a:srgbClr val="5A6A7A"/>
                </a:solidFill>
              </a:rPr>
              <a:t>Biased fitness function used to rank current solutions by both quality and diversity. n_pop is the current population size and n_elite the number of elite (best-cost) individuals; individuals outside the elite are increasingly rewarded for contributing diversity.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108960"/>
            <a:ext cx="11094415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Population-based: parents recombine via ordered crossover; every offspring is 'educated' by aggressive local search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Biased fitness (above) blends solution quality with diversity contribution — prevents premature convergence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Infeasible individuals survive in a penalised sub-population, letting the search cross infeasible regions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State-of-the-art on classical CVRP; strong efficiency performer here when paired with the CLS improver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Swarm Intelligence — PSOMA &amp; ACO-HH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11094415" cy="2057400"/>
          </a:xfrm>
          <a:prstGeom prst="round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q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797" y="1234440"/>
            <a:ext cx="7494100" cy="1874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42900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Equation 6: </a:t>
            </a:r>
            <a:r>
              <a:rPr i="1" sz="1100">
                <a:solidFill>
                  <a:srgbClr val="5A6A7A"/>
                </a:solidFill>
              </a:rPr>
              <a:t>PSO velocity update: particle i moves toward its personal best p_i and the global best g under inertia ω and acceleration coefficients c1, c2. ACO pheromone update: pheromone τ_h on heuristic h decays by evaporation rate ρ and is reinforced by the deposits Δτ_h of the k ants that used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94760"/>
            <a:ext cx="11094415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Many simple agents share information; global order emerges from local interactions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PSOMA: particles attracted by personal/global bests + a memetic local-search refinement phase — consistent best-overflow performer in the empirical scenarios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ACO-HH: pheromones are laid over low-level heuristics (h) rather than arcs — the colony learns the best sequence of constructive operators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ACO-HH is the most robust all-rounder: Pareto-optimal in multiple scenarios (zero-overflow SL2 configs at FFZ-350)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Neighborhood Search — SANS &amp; PG-CLNS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11094415" cy="2057400"/>
          </a:xfrm>
          <a:prstGeom prst="round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q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6835" y="1234440"/>
            <a:ext cx="8398025" cy="1874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42900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Equation 7: </a:t>
            </a:r>
            <a:r>
              <a:rPr i="1" sz="1100">
                <a:solidFill>
                  <a:srgbClr val="5A6A7A"/>
                </a:solidFill>
              </a:rPr>
              <a:t>Simulated annealing accepts a worsening move with probability e^(−Δ/T_t), cooling temperature T by factor γ each iteration. PG-CLNS learns its destroy/repair operator choice o via the policy-gradient estimator ∇_θJ, using state s (fill levels, geography) and observed reward 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94760"/>
            <a:ext cx="11094415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Trajectory-based: iteratively perturb the incumbent through neighbourhood moves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SANS: simulated annealing accepts worsening moves with probability e^(−Δ/T); cooling shifts exploration → exploitation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PG-CLNS: destroy-and-repair large-neighborhood search whose operator selection is learned online via policy gradients, adapting to instance context (fill levels, geography)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PG-CLNS is a standout overflow performer: SL1 + PG-CLNS reaches the Pareto front with ~1 overflow / 30 days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Route Improvers: Classical Local Search vs Fast-TSP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11094415" cy="2057400"/>
          </a:xfrm>
          <a:prstGeom prst="round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q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0168" y="1234440"/>
            <a:ext cx="9151358" cy="1874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42900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Equation 8: </a:t>
            </a:r>
            <a:r>
              <a:rPr i="1" sz="1100">
                <a:solidFill>
                  <a:srgbClr val="5A6A7A"/>
                </a:solidFill>
              </a:rPr>
              <a:t>2-opt accepts an edge swap whenever the resulting distance change Δ is negative. Fast-TSP reorders each route's visiting sequence π to minimise total distance — solved exactly for small routes and via Stochastic Local Search (SLS) once N exceeds 20 stops.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94760"/>
            <a:ext cx="11094415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Optional, constructor-agnostic post-optimisation of each constructed route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CLS: exhaustive intra/inter-route neighbourhoods (2-opt, or-opt, swap, relocate) to a local optimum — best kg/km polish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Fast-TSP: reorders each route as a TSP — exact for small routes, Stochastic Local Search (SLS) under the hood for graphs with more than 20 nodes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Improver choice is a second-order effect: selection strategy and constructor dominate the KPI outcomes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Pareto Front (Overflows vs kg/km)</a:t>
            </a:r>
          </a:p>
        </p:txBody>
      </p:sp>
      <p:pic>
        <p:nvPicPr>
          <p:cNvPr id="3" name="Picture 2" descr="pareto_scatter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83163"/>
            <a:ext cx="11460175" cy="425743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Figure 2: </a:t>
            </a:r>
            <a:r>
              <a:rPr i="1" sz="1100">
                <a:solidFill>
                  <a:srgbClr val="5A6A7A"/>
                </a:solidFill>
              </a:rPr>
              <a:t>Symlog X axis (overflows). Colour = selection variant, shape = scenario, dashed lines = Pareto fronts (one colour per scenario).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Summary KPI Analysis by Selection Strategy</a:t>
            </a:r>
          </a:p>
        </p:txBody>
      </p:sp>
      <p:pic>
        <p:nvPicPr>
          <p:cNvPr id="3" name="Picture 2" descr="overflow_by_config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8337" y="1051560"/>
            <a:ext cx="8275020" cy="2468880"/>
          </a:xfrm>
          <a:prstGeom prst="rect">
            <a:avLst/>
          </a:prstGeom>
        </p:spPr>
      </p:pic>
      <p:pic>
        <p:nvPicPr>
          <p:cNvPr id="4" name="Picture 3" descr="kgkm_by_conf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7182" y="3611880"/>
            <a:ext cx="827733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Figure 3: </a:t>
            </a:r>
            <a:r>
              <a:rPr i="1" sz="1100">
                <a:solidFill>
                  <a:srgbClr val="5A6A7A"/>
                </a:solidFill>
              </a:rPr>
              <a:t>Mean ± min/max range across route constructors; colours discriminate the mandatory selection strategies.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Per-Scenario Heatmaps (Constructors × Strategy·Improver)</a:t>
            </a:r>
          </a:p>
        </p:txBody>
      </p:sp>
      <p:pic>
        <p:nvPicPr>
          <p:cNvPr id="3" name="Picture 2" descr="scenario_constructo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5432" y="1051560"/>
            <a:ext cx="905795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Figure 4: </a:t>
            </a:r>
            <a:r>
              <a:rPr i="1" sz="1100">
                <a:solidFill>
                  <a:srgbClr val="5A6A7A"/>
                </a:solidFill>
              </a:rPr>
              <a:t>30-day runs. One panel per scenario; route constructors on the rows, selection × improver combinations on the columns.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Overflow &amp; kg/km Heatmaps, 90 Days (Policies × Scenarios)</a:t>
            </a:r>
          </a:p>
        </p:txBody>
      </p:sp>
      <p:pic>
        <p:nvPicPr>
          <p:cNvPr id="3" name="Picture 2" descr="policy_scenario_heatmap_overfl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384" y="1051560"/>
            <a:ext cx="4706518" cy="5120640"/>
          </a:xfrm>
          <a:prstGeom prst="rect">
            <a:avLst/>
          </a:prstGeom>
        </p:spPr>
      </p:pic>
      <p:pic>
        <p:nvPicPr>
          <p:cNvPr id="4" name="Picture 3" descr="policy_scenario_heatmap_kgk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9988" y="1051560"/>
            <a:ext cx="4670365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Figure 5: </a:t>
            </a:r>
            <a:r>
              <a:rPr i="1" sz="1100">
                <a:solidFill>
                  <a:srgbClr val="5A6A7A"/>
                </a:solidFill>
              </a:rPr>
              <a:t>90-day runs (Pareto-front policies only — fewer rows, easier to read). Rows = policy configurations; columns = scenarios.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Route Improver Comparison</a:t>
            </a:r>
          </a:p>
        </p:txBody>
      </p:sp>
      <p:pic>
        <p:nvPicPr>
          <p:cNvPr id="3" name="Picture 2" descr="improver_bubble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4755"/>
            <a:ext cx="11460175" cy="46542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Figure 6: </a:t>
            </a:r>
            <a:r>
              <a:rPr i="1" sz="1100">
                <a:solidFill>
                  <a:srgbClr val="5A6A7A"/>
                </a:solidFill>
              </a:rPr>
              <a:t>Each bubble = (improver, scenario) averaged over strategies and constructors — FTSP vs CLS contrasted directly.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Full Table (30-Day Horizon)</a:t>
            </a:r>
          </a:p>
        </p:txBody>
      </p:sp>
      <p:pic>
        <p:nvPicPr>
          <p:cNvPr id="3" name="Picture 2" descr="full_results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869653"/>
            <a:ext cx="11643055" cy="1301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Table 1: </a:t>
            </a:r>
            <a:r>
              <a:rPr i="1" sz="1100">
                <a:solidFill>
                  <a:srgbClr val="5A6A7A"/>
                </a:solidFill>
              </a:rPr>
              <a:t>Full results table — rows: graph size × region × data distribution; columns: mandatory selection strategy × route constructor × route improver. Each cell reports mean±std overflows and mean±std kg/km.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Conclusions, Limitations &amp; Future Work</a:t>
            </a:r>
          </a:p>
        </p:txBody>
      </p:sp>
      <p:pic>
        <p:nvPicPr>
          <p:cNvPr id="3" name="Picture 2" descr="policy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47" y="1333266"/>
            <a:ext cx="5730087" cy="48315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Figure 7: </a:t>
            </a:r>
            <a:r>
              <a:rPr i="1" sz="1100">
                <a:solidFill>
                  <a:srgbClr val="5A6A7A"/>
                </a:solidFill>
              </a:rPr>
              <a:t>Overlaid radar chart comparing key route constructors across overflow, efficiency, distance and profit axes — outer position indicates better performance on that axis.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55767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The selection strategy dominates the overflow/efficiency trade-off: SL prevents overflows (SL2 + ACO_HH reached 0 at FFZ-350), LM (CF90) maximises kg/km (~12), LA balances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BPC and PG-CLNS are the most frequent Pareto-front constructors; ACO-HH is the most robust across scenarios and horizons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Patterns are stable from 30 to 90 days; overflow pressure grows with the horizon while kg/km stays consistent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Limitations: single vehicle type/depot per region; waste models calibrated on limited data; 90-day runs only cover the 30-day Pareto-front policies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Future work: richer acceptance criteria, neural constructors in the same pipeline, multi-vehicle fleets, intra-day re-routing, CO₂-aware objectives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4577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Thank You — Questions &amp; Answers</a:t>
            </a:r>
          </a:p>
          <a:p>
            <a:pPr algn="ctr">
              <a:defRPr sz="1600">
                <a:solidFill>
                  <a:srgbClr val="C9D6E4"/>
                </a:solidFill>
              </a:defRPr>
            </a:pPr>
            <a:r>
              <a:t>Thank you for your attention!</a:t>
            </a:r>
          </a:p>
          <a:p>
            <a:pPr algn="ctr">
              <a:defRPr sz="1600">
                <a:solidFill>
                  <a:srgbClr val="C9D6E4"/>
                </a:solidFill>
              </a:defRPr>
            </a:pPr>
            <a:r>
              <a:t>Time for questions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