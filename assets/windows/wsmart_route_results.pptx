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4577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 Simulation Framework for the Multi-Period Vehicle Routing Problem with Profits in Smart Waste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457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Afonso Cruz Fernandes¹</a:t>
            </a:r>
          </a:p>
          <a:p>
            <a:pPr>
              <a:spcBef>
                <a:spcPts val="600"/>
              </a:spcBef>
              <a:defRPr sz="1400">
                <a:solidFill>
                  <a:srgbClr val="C9D6E4"/>
                </a:solidFill>
              </a:defRPr>
            </a:pPr>
            <a:r>
              <a:t>with Héctor Bonilla-Londoño², Diana Jorge², Manuel Lopes¹, Pedro A. Santos¹, Tânia Ramos²</a:t>
            </a:r>
          </a:p>
          <a:p>
            <a:pPr>
              <a:spcBef>
                <a:spcPts val="1000"/>
              </a:spcBef>
              <a:defRPr sz="1100" i="1">
                <a:solidFill>
                  <a:srgbClr val="8A9BB0"/>
                </a:solidFill>
              </a:defRPr>
            </a:pPr>
            <a:r>
              <a:t>¹ INESC-ID, Instituto Superior Técnico, University of Lisbon   ·   ² CEGIST, Instituto Superior Técnico, University of Lisbon</a:t>
            </a:r>
          </a:p>
        </p:txBody>
      </p:sp>
      <p:pic>
        <p:nvPicPr>
          <p:cNvPr id="6" name="Picture 5" descr="logo-inesc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743" y="5454396"/>
            <a:ext cx="1673352" cy="1115568"/>
          </a:xfrm>
          <a:prstGeom prst="rect">
            <a:avLst/>
          </a:prstGeom>
        </p:spPr>
      </p:pic>
      <p:pic>
        <p:nvPicPr>
          <p:cNvPr id="7" name="Picture 6" descr="logo-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838" y="5591761"/>
            <a:ext cx="1810512" cy="1005430"/>
          </a:xfrm>
          <a:prstGeom prst="rect">
            <a:avLst/>
          </a:prstGeom>
        </p:spPr>
      </p:pic>
      <p:pic>
        <p:nvPicPr>
          <p:cNvPr id="8" name="Picture 7" descr="logo-ceg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9528" y="5458968"/>
            <a:ext cx="1471986" cy="1261872"/>
          </a:xfrm>
          <a:prstGeom prst="rect">
            <a:avLst/>
          </a:prstGeom>
        </p:spPr>
      </p:pic>
      <p:pic>
        <p:nvPicPr>
          <p:cNvPr id="9" name="Picture 8" descr="logo-optimization20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6425" y="137160"/>
            <a:ext cx="252127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364327" cy="1072134"/>
          </a:xfrm>
          <a:prstGeom prst="roundRect">
            <a:avLst/>
          </a:prstGeom>
          <a:solidFill>
            <a:srgbClr val="273749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761363"/>
            <a:ext cx="566928" cy="566928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08760"/>
            <a:ext cx="4294479" cy="10721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Introduction: Problem and Objective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2062"/>
            <a:ext cx="5364327" cy="1072134"/>
          </a:xfrm>
          <a:prstGeom prst="roundRect">
            <a:avLst/>
          </a:prstGeom>
          <a:solidFill>
            <a:srgbClr val="273749"/>
          </a:solidFill>
          <a:ln w="15875">
            <a:solidFill>
              <a:srgbClr val="3E8E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3034665"/>
            <a:ext cx="566928" cy="566928"/>
          </a:xfrm>
          <a:prstGeom prst="ellipse">
            <a:avLst/>
          </a:prstGeom>
          <a:solidFill>
            <a:srgbClr val="3E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782062"/>
            <a:ext cx="4294479" cy="10721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Simulator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55364"/>
            <a:ext cx="5364327" cy="1072134"/>
          </a:xfrm>
          <a:prstGeom prst="roundRect">
            <a:avLst/>
          </a:prstGeom>
          <a:solidFill>
            <a:srgbClr val="273749"/>
          </a:solidFill>
          <a:ln w="15875">
            <a:solidFill>
              <a:srgbClr val="B06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232" y="4307967"/>
            <a:ext cx="566928" cy="566928"/>
          </a:xfrm>
          <a:prstGeom prst="ellipse">
            <a:avLst/>
          </a:prstGeom>
          <a:solidFill>
            <a:srgbClr val="B0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055364"/>
            <a:ext cx="4294479" cy="10721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Mandatory Node Selection Strategies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28666"/>
            <a:ext cx="5364327" cy="1072134"/>
          </a:xfrm>
          <a:prstGeom prst="roundRect">
            <a:avLst/>
          </a:prstGeom>
          <a:solidFill>
            <a:srgbClr val="273749"/>
          </a:solidFill>
          <a:ln w="15875">
            <a:solidFill>
              <a:srgbClr val="8E3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3232" y="5581269"/>
            <a:ext cx="566928" cy="566928"/>
          </a:xfrm>
          <a:prstGeom prst="ellipse">
            <a:avLst/>
          </a:prstGeom>
          <a:solidFill>
            <a:srgbClr val="8E3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328666"/>
            <a:ext cx="4294479" cy="10721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Route Constructors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1508760"/>
            <a:ext cx="5364327" cy="1072134"/>
          </a:xfrm>
          <a:prstGeom prst="roundRect">
            <a:avLst/>
          </a:prstGeom>
          <a:solidFill>
            <a:srgbClr val="273749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1761363"/>
            <a:ext cx="566928" cy="566928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3127" y="1508760"/>
            <a:ext cx="4294479" cy="10721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Route Improvers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2782062"/>
            <a:ext cx="5364327" cy="1072134"/>
          </a:xfrm>
          <a:prstGeom prst="roundRect">
            <a:avLst/>
          </a:prstGeom>
          <a:solidFill>
            <a:srgbClr val="273749"/>
          </a:solidFill>
          <a:ln w="15875">
            <a:solidFill>
              <a:srgbClr val="3E8E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3319" y="3034665"/>
            <a:ext cx="566928" cy="566928"/>
          </a:xfrm>
          <a:prstGeom prst="ellipse">
            <a:avLst/>
          </a:prstGeom>
          <a:solidFill>
            <a:srgbClr val="3E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3127" y="2782062"/>
            <a:ext cx="4294479" cy="10721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Experimental Methodology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8727" y="4055364"/>
            <a:ext cx="5364327" cy="1072134"/>
          </a:xfrm>
          <a:prstGeom prst="roundRect">
            <a:avLst/>
          </a:prstGeom>
          <a:solidFill>
            <a:srgbClr val="273749"/>
          </a:solidFill>
          <a:ln w="15875">
            <a:solidFill>
              <a:srgbClr val="B06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3319" y="4307967"/>
            <a:ext cx="566928" cy="566928"/>
          </a:xfrm>
          <a:prstGeom prst="ellipse">
            <a:avLst/>
          </a:prstGeom>
          <a:solidFill>
            <a:srgbClr val="B0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3127" y="4055364"/>
            <a:ext cx="4294479" cy="10721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Experimental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8727" y="5328666"/>
            <a:ext cx="5364327" cy="1072134"/>
          </a:xfrm>
          <a:prstGeom prst="roundRect">
            <a:avLst/>
          </a:prstGeom>
          <a:solidFill>
            <a:srgbClr val="273749"/>
          </a:solidFill>
          <a:ln w="15875">
            <a:solidFill>
              <a:srgbClr val="8E3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3319" y="5581269"/>
            <a:ext cx="566928" cy="566928"/>
          </a:xfrm>
          <a:prstGeom prst="ellipse">
            <a:avLst/>
          </a:prstGeom>
          <a:solidFill>
            <a:srgbClr val="8E3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3127" y="5328666"/>
            <a:ext cx="4294479" cy="107213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Conclusions &amp; Limitations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The Problem: Vehicle Routing Problem with Profits (VRPP)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5730087" cy="2560320"/>
          </a:xfrm>
          <a:prstGeom prst="round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q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364327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86200"/>
            <a:ext cx="573008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A7A"/>
                </a:solidFill>
              </a:defRPr>
            </a:pPr>
            <a:r>
              <a:t>Variables</a:t>
            </a:r>
          </a:p>
        </p:txBody>
      </p:sp>
      <p:pic>
        <p:nvPicPr>
          <p:cNvPr id="6" name="Picture 5" descr="glossary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78808"/>
            <a:ext cx="5730087" cy="2424988"/>
          </a:xfrm>
          <a:prstGeom prst="rect">
            <a:avLst/>
          </a:prstGeom>
        </p:spPr>
      </p:pic>
      <p:pic>
        <p:nvPicPr>
          <p:cNvPr id="7" name="Picture 6" descr="vrpp_illust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27" y="1453763"/>
            <a:ext cx="5272887" cy="47734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Objective: Build a simulator to test different algorithms</a:t>
            </a:r>
          </a:p>
        </p:txBody>
      </p:sp>
      <p:sp>
        <p:nvSpPr>
          <p:cNvPr id="3" name="Rectangle 2"/>
          <p:cNvSpPr/>
          <p:nvPr/>
        </p:nvSpPr>
        <p:spPr>
          <a:xfrm>
            <a:off x="3772814" y="1135684"/>
            <a:ext cx="5151729" cy="400507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i="1">
                <a:solidFill>
                  <a:srgbClr val="FFFFFF"/>
                </a:solidFill>
              </a:defRPr>
            </a:pPr>
            <a:r>
              <a:t>One framework to compare them 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82749" y="1637690"/>
            <a:ext cx="1303934" cy="41788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Exact Methods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82749" y="2207361"/>
            <a:ext cx="1303934" cy="548640"/>
          </a:xfrm>
          <a:prstGeom prst="roundRect">
            <a:avLst/>
          </a:prstGeom>
          <a:solidFill>
            <a:srgbClr val="3E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Meta-Heuristics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82749" y="2888589"/>
            <a:ext cx="1303934" cy="548640"/>
          </a:xfrm>
          <a:prstGeom prst="roundRect">
            <a:avLst/>
          </a:prstGeom>
          <a:solidFill>
            <a:srgbClr val="B0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Hyper-Heuristics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6805" y="1558137"/>
            <a:ext cx="2218334" cy="1870862"/>
          </a:xfrm>
          <a:prstGeom prst="round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One Shared Simulator</a:t>
            </a:r>
          </a:p>
          <a:p>
            <a:pPr algn="ctr">
              <a:spcBef>
                <a:spcPts val="600"/>
              </a:spcBef>
              <a:defRPr sz="1100">
                <a:solidFill>
                  <a:srgbClr val="C9D6E4"/>
                </a:solidFill>
              </a:defRPr>
            </a:pPr>
            <a:r>
              <a:t>Multi-day simulator:</a:t>
            </a:r>
            <a:br/>
            <a:r>
              <a:t>region × graph size × demand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74812" y="1973275"/>
            <a:ext cx="1430121" cy="1041501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Fair Benchmarks</a:t>
            </a:r>
            <a:br/>
            <a:r>
              <a:t>(KPIs)</a:t>
            </a:r>
          </a:p>
        </p:txBody>
      </p:sp>
      <p:cxnSp>
        <p:nvCxnSpPr>
          <p:cNvPr id="907" name="Connector 907"/>
          <p:cNvCxnSpPr/>
          <p:nvPr/>
        </p:nvCxnSpPr>
        <p:spPr>
          <a:xfrm>
            <a:off x="3186684" y="1847088"/>
            <a:ext cx="1430121" cy="646480"/>
          </a:xfrm>
          <a:prstGeom prst="straightConnector1">
            <a:avLst/>
          </a:prstGeom>
          <a:ln w="19050">
            <a:solidFill>
              <a:srgbClr val="2E74B5"/>
            </a:solidFill>
            <a:tailEnd type="arrow"/>
          </a:ln>
        </p:spPr>
      </p:cxnSp>
      <p:cxnSp>
        <p:nvCxnSpPr>
          <p:cNvPr id="908" name="Connector 908"/>
          <p:cNvCxnSpPr/>
          <p:nvPr/>
        </p:nvCxnSpPr>
        <p:spPr>
          <a:xfrm>
            <a:off x="3186684" y="2481681"/>
            <a:ext cx="1430121" cy="11887"/>
          </a:xfrm>
          <a:prstGeom prst="straightConnector1">
            <a:avLst/>
          </a:prstGeom>
          <a:ln w="19050">
            <a:solidFill>
              <a:srgbClr val="3E8E41"/>
            </a:solidFill>
            <a:tailEnd type="arrow"/>
          </a:ln>
        </p:spPr>
      </p:cxnSp>
      <p:cxnSp>
        <p:nvCxnSpPr>
          <p:cNvPr id="909" name="Connector 909"/>
          <p:cNvCxnSpPr/>
          <p:nvPr/>
        </p:nvCxnSpPr>
        <p:spPr>
          <a:xfrm flipV="1">
            <a:off x="3186684" y="2493568"/>
            <a:ext cx="1430121" cy="669340"/>
          </a:xfrm>
          <a:prstGeom prst="straightConnector1">
            <a:avLst/>
          </a:prstGeom>
          <a:ln w="19050">
            <a:solidFill>
              <a:srgbClr val="B06A2E"/>
            </a:solidFill>
            <a:tailEnd type="arrow"/>
          </a:ln>
        </p:spPr>
      </p:cxnSp>
      <p:cxnSp>
        <p:nvCxnSpPr>
          <p:cNvPr id="910" name="Connector 910"/>
          <p:cNvCxnSpPr/>
          <p:nvPr/>
        </p:nvCxnSpPr>
        <p:spPr>
          <a:xfrm>
            <a:off x="6835140" y="2493568"/>
            <a:ext cx="1038758" cy="914"/>
          </a:xfrm>
          <a:prstGeom prst="straightConnector1">
            <a:avLst/>
          </a:prstGeom>
          <a:ln w="19050">
            <a:solidFill>
              <a:srgbClr val="2E74B5"/>
            </a:solidFill>
            <a:tailEnd type="arrow"/>
          </a:ln>
        </p:spPr>
      </p:cxnSp>
      <p:sp>
        <p:nvSpPr>
          <p:cNvPr id="911" name="Rounded Rectangle 910"/>
          <p:cNvSpPr/>
          <p:nvPr/>
        </p:nvSpPr>
        <p:spPr>
          <a:xfrm>
            <a:off x="585216" y="3893515"/>
            <a:ext cx="3484778" cy="54864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Exact Methods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585216" y="4579315"/>
            <a:ext cx="3484778" cy="928115"/>
          </a:xfrm>
          <a:prstGeom prst="roundRect">
            <a:avLst/>
          </a:prstGeom>
          <a:solidFill>
            <a:srgbClr val="F0F4FA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defRPr sz="1300" b="1">
                <a:solidFill>
                  <a:srgbClr val="1F2D3D"/>
                </a:solidFill>
              </a:defRPr>
            </a:pPr>
            <a:r>
              <a:t>Branch-and-Price-and-Cut (BPC)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585216" y="5617159"/>
            <a:ext cx="3484778" cy="928115"/>
          </a:xfrm>
          <a:prstGeom prst="roundRect">
            <a:avLst/>
          </a:prstGeom>
          <a:solidFill>
            <a:srgbClr val="F0F4FA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defRPr sz="1300" b="1">
                <a:solidFill>
                  <a:srgbClr val="1F2D3D"/>
                </a:solidFill>
              </a:defRPr>
            </a:pPr>
            <a:r>
              <a:t>Smart Waste Collection —</a:t>
            </a:r>
            <a:br/>
            <a:r>
              <a:t>Two-Commodity Flow (SWC-TCF)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4390034" y="3893515"/>
            <a:ext cx="3484778" cy="548640"/>
          </a:xfrm>
          <a:prstGeom prst="roundRect">
            <a:avLst/>
          </a:prstGeom>
          <a:solidFill>
            <a:srgbClr val="3E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Meta-Heuristics</a:t>
            </a:r>
          </a:p>
        </p:txBody>
      </p:sp>
      <p:sp>
        <p:nvSpPr>
          <p:cNvPr id="915" name="Rounded Rectangle 914"/>
          <p:cNvSpPr/>
          <p:nvPr/>
        </p:nvSpPr>
        <p:spPr>
          <a:xfrm>
            <a:off x="4390034" y="4579315"/>
            <a:ext cx="3484778" cy="411480"/>
          </a:xfrm>
          <a:prstGeom prst="roundRect">
            <a:avLst/>
          </a:prstGeom>
          <a:solidFill>
            <a:srgbClr val="F0F4FA"/>
          </a:solidFill>
          <a:ln w="15875">
            <a:solidFill>
              <a:srgbClr val="3E8E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defRPr sz="1000" b="1">
                <a:solidFill>
                  <a:srgbClr val="1F2D3D"/>
                </a:solidFill>
              </a:defRPr>
            </a:pPr>
            <a:r>
              <a:t>Hybrid Genetic Search (HGS)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4390034" y="5027371"/>
            <a:ext cx="3484778" cy="411480"/>
          </a:xfrm>
          <a:prstGeom prst="roundRect">
            <a:avLst/>
          </a:prstGeom>
          <a:solidFill>
            <a:srgbClr val="F0F4FA"/>
          </a:solidFill>
          <a:ln w="15875">
            <a:solidFill>
              <a:srgbClr val="3E8E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defRPr sz="1000" b="1">
                <a:solidFill>
                  <a:srgbClr val="1F2D3D"/>
                </a:solidFill>
              </a:defRPr>
            </a:pPr>
            <a:r>
              <a:t>Adaptive Large Neighborhood Search (ALNS)</a:t>
            </a:r>
          </a:p>
        </p:txBody>
      </p:sp>
      <p:sp>
        <p:nvSpPr>
          <p:cNvPr id="917" name="Rounded Rectangle 916"/>
          <p:cNvSpPr/>
          <p:nvPr/>
        </p:nvSpPr>
        <p:spPr>
          <a:xfrm>
            <a:off x="4390034" y="5475427"/>
            <a:ext cx="3484778" cy="411480"/>
          </a:xfrm>
          <a:prstGeom prst="roundRect">
            <a:avLst/>
          </a:prstGeom>
          <a:solidFill>
            <a:srgbClr val="F0F4FA"/>
          </a:solidFill>
          <a:ln w="15875">
            <a:solidFill>
              <a:srgbClr val="3E8E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defRPr sz="1000" b="1">
                <a:solidFill>
                  <a:srgbClr val="1F2D3D"/>
                </a:solidFill>
              </a:defRPr>
            </a:pPr>
            <a:r>
              <a:t>Simulated Annealing Neighborhood Search (SANS)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4390034" y="5923483"/>
            <a:ext cx="3484778" cy="411480"/>
          </a:xfrm>
          <a:prstGeom prst="roundRect">
            <a:avLst/>
          </a:prstGeom>
          <a:solidFill>
            <a:srgbClr val="F0F4FA"/>
          </a:solidFill>
          <a:ln w="15875">
            <a:solidFill>
              <a:srgbClr val="3E8E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defRPr sz="1000" b="1">
                <a:solidFill>
                  <a:srgbClr val="1F2D3D"/>
                </a:solidFill>
              </a:defRPr>
            </a:pPr>
            <a:r>
              <a:t>Pheromone-Guided Cooperative Large Neighborhood Search (PG-CLNS)</a:t>
            </a:r>
          </a:p>
        </p:txBody>
      </p:sp>
      <p:sp>
        <p:nvSpPr>
          <p:cNvPr id="919" name="Rounded Rectangle 918"/>
          <p:cNvSpPr/>
          <p:nvPr/>
        </p:nvSpPr>
        <p:spPr>
          <a:xfrm>
            <a:off x="4390034" y="6371539"/>
            <a:ext cx="3484778" cy="411480"/>
          </a:xfrm>
          <a:prstGeom prst="roundRect">
            <a:avLst/>
          </a:prstGeom>
          <a:solidFill>
            <a:srgbClr val="F0F4FA"/>
          </a:solidFill>
          <a:ln w="15875">
            <a:solidFill>
              <a:srgbClr val="3E8E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defRPr sz="1000" b="1">
                <a:solidFill>
                  <a:srgbClr val="1F2D3D"/>
                </a:solidFill>
              </a:defRPr>
            </a:pPr>
            <a:r>
              <a:t>Particle Swarm Optimization Memetic Algorithm (PSOMA)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8194852" y="3893515"/>
            <a:ext cx="3484778" cy="548640"/>
          </a:xfrm>
          <a:prstGeom prst="roundRect">
            <a:avLst/>
          </a:prstGeom>
          <a:solidFill>
            <a:srgbClr val="B0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Hyper-Heuristics</a:t>
            </a:r>
          </a:p>
        </p:txBody>
      </p:sp>
      <p:sp>
        <p:nvSpPr>
          <p:cNvPr id="921" name="Rounded Rectangle 920"/>
          <p:cNvSpPr/>
          <p:nvPr/>
        </p:nvSpPr>
        <p:spPr>
          <a:xfrm>
            <a:off x="8194852" y="4579315"/>
            <a:ext cx="3484778" cy="1965960"/>
          </a:xfrm>
          <a:prstGeom prst="roundRect">
            <a:avLst/>
          </a:prstGeom>
          <a:solidFill>
            <a:srgbClr val="F0F4FA"/>
          </a:solidFill>
          <a:ln w="15875">
            <a:solidFill>
              <a:srgbClr val="B06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defRPr sz="1300" b="1">
                <a:solidFill>
                  <a:srgbClr val="1F2D3D"/>
                </a:solidFill>
              </a:defRPr>
            </a:pPr>
            <a:r>
              <a:t>Ant Colony Optimization</a:t>
            </a:r>
            <a:br/>
            <a:r>
              <a:t>Hyper-Heuristic (ACO-HH)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Routing Simulator Philosophy — Modular Policy Pipeline</a:t>
            </a:r>
          </a:p>
        </p:txBody>
      </p:sp>
      <p:sp>
        <p:nvSpPr>
          <p:cNvPr id="3" name="Chevron 2"/>
          <p:cNvSpPr/>
          <p:nvPr/>
        </p:nvSpPr>
        <p:spPr>
          <a:xfrm>
            <a:off x="457200" y="1737360"/>
            <a:ext cx="2647873" cy="1371600"/>
          </a:xfrm>
          <a:prstGeom prst="chevron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Mandatory bin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selection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46120"/>
            <a:ext cx="264787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A6A7A"/>
                </a:solidFill>
              </a:defRPr>
            </a:pPr>
            <a:r>
              <a:t>is there a collection today?</a:t>
            </a:r>
          </a:p>
        </p:txBody>
      </p:sp>
      <p:sp>
        <p:nvSpPr>
          <p:cNvPr id="5" name="Chevron 4"/>
          <p:cNvSpPr/>
          <p:nvPr/>
        </p:nvSpPr>
        <p:spPr>
          <a:xfrm>
            <a:off x="3333673" y="1737360"/>
            <a:ext cx="2647873" cy="1371600"/>
          </a:xfrm>
          <a:prstGeom prst="chevron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Route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constructor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3673" y="3246120"/>
            <a:ext cx="264787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A6A7A"/>
                </a:solidFill>
              </a:defRPr>
            </a:pPr>
            <a:r>
              <a:t>build the routes</a:t>
            </a:r>
          </a:p>
        </p:txBody>
      </p:sp>
      <p:sp>
        <p:nvSpPr>
          <p:cNvPr id="7" name="Chevron 6"/>
          <p:cNvSpPr/>
          <p:nvPr/>
        </p:nvSpPr>
        <p:spPr>
          <a:xfrm>
            <a:off x="6210146" y="1737360"/>
            <a:ext cx="2647873" cy="1371600"/>
          </a:xfrm>
          <a:prstGeom prst="chevron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Acceptance criterion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(optional)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146" y="3246120"/>
            <a:ext cx="264787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A6A7A"/>
                </a:solidFill>
              </a:defRPr>
            </a:pPr>
            <a:r>
              <a:t>constructor-dependent</a:t>
            </a:r>
          </a:p>
        </p:txBody>
      </p:sp>
      <p:sp>
        <p:nvSpPr>
          <p:cNvPr id="9" name="Chevron 8"/>
          <p:cNvSpPr/>
          <p:nvPr/>
        </p:nvSpPr>
        <p:spPr>
          <a:xfrm>
            <a:off x="9086619" y="1737360"/>
            <a:ext cx="2647873" cy="1371600"/>
          </a:xfrm>
          <a:prstGeom prst="chevron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Route improver</a:t>
            </a:r>
          </a:p>
          <a:p>
            <a:pPr algn="ctr">
              <a:defRPr sz="1500" b="1">
                <a:solidFill>
                  <a:srgbClr val="FFFFFF"/>
                </a:solidFill>
              </a:defRPr>
            </a:pPr>
            <a:r>
              <a:t>(optional)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86619" y="3246120"/>
            <a:ext cx="264787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A6A7A"/>
                </a:solidFill>
              </a:defRPr>
            </a:pPr>
            <a:r>
              <a:t>post-optimisation</a:t>
            </a:r>
          </a:p>
        </p:txBody>
      </p:sp>
      <p:pic>
        <p:nvPicPr>
          <p:cNvPr id="11" name="Picture 10" descr="waste_bin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7" y="4491532"/>
            <a:ext cx="452628" cy="6428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3038" y="4820716"/>
            <a:ext cx="410565" cy="26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87%</a:t>
            </a:r>
          </a:p>
        </p:txBody>
      </p:sp>
      <p:pic>
        <p:nvPicPr>
          <p:cNvPr id="13" name="Picture 12" descr="waste_bin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" y="4936845"/>
            <a:ext cx="452628" cy="6428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5137" y="5266029"/>
            <a:ext cx="410565" cy="26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60%</a:t>
            </a:r>
          </a:p>
        </p:txBody>
      </p:sp>
      <p:pic>
        <p:nvPicPr>
          <p:cNvPr id="15" name="Picture 14" descr="waste_bin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" y="5652820"/>
            <a:ext cx="452628" cy="64282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8426" y="5982004"/>
            <a:ext cx="410565" cy="26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42%</a:t>
            </a:r>
          </a:p>
        </p:txBody>
      </p:sp>
      <p:pic>
        <p:nvPicPr>
          <p:cNvPr id="17" name="Picture 16" descr="waste_bin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732" y="5120640"/>
            <a:ext cx="452628" cy="6428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05763" y="5449824"/>
            <a:ext cx="410565" cy="26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50%</a:t>
            </a:r>
          </a:p>
        </p:txBody>
      </p:sp>
      <p:pic>
        <p:nvPicPr>
          <p:cNvPr id="19" name="Picture 18" descr="waste_bin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347" y="4178808"/>
            <a:ext cx="452628" cy="6428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27378" y="4507992"/>
            <a:ext cx="410565" cy="26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30%</a:t>
            </a:r>
          </a:p>
        </p:txBody>
      </p:sp>
      <p:pic>
        <p:nvPicPr>
          <p:cNvPr id="21" name="Picture 20" descr="waste_bin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407" y="4675327"/>
            <a:ext cx="452628" cy="64282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907438" y="5004511"/>
            <a:ext cx="410565" cy="26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80%</a:t>
            </a:r>
          </a:p>
        </p:txBody>
      </p:sp>
      <p:pic>
        <p:nvPicPr>
          <p:cNvPr id="23" name="Picture 22" descr="waste_bin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532" y="5724144"/>
            <a:ext cx="452628" cy="64282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6563" y="6053328"/>
            <a:ext cx="410565" cy="26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20%</a:t>
            </a:r>
          </a:p>
        </p:txBody>
      </p:sp>
      <p:pic>
        <p:nvPicPr>
          <p:cNvPr id="25" name="Picture 24" descr="waste_bin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954" y="4878324"/>
            <a:ext cx="452628" cy="64282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627985" y="5207508"/>
            <a:ext cx="410565" cy="26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" y="4482388"/>
            <a:ext cx="547725" cy="694029"/>
          </a:xfrm>
          <a:prstGeom prst="rect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waste_bin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505" y="4295851"/>
            <a:ext cx="452628" cy="64282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09536" y="4625035"/>
            <a:ext cx="410565" cy="26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87%</a:t>
            </a:r>
          </a:p>
        </p:txBody>
      </p:sp>
      <p:pic>
        <p:nvPicPr>
          <p:cNvPr id="30" name="Picture 29" descr="waste_bin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690" y="4741164"/>
            <a:ext cx="452628" cy="64282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230721" y="5070348"/>
            <a:ext cx="410565" cy="26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60%</a:t>
            </a:r>
          </a:p>
        </p:txBody>
      </p:sp>
      <p:pic>
        <p:nvPicPr>
          <p:cNvPr id="32" name="Picture 31" descr="waste_bin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979" y="5457139"/>
            <a:ext cx="452628" cy="64282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84010" y="5786323"/>
            <a:ext cx="410565" cy="26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42%</a:t>
            </a:r>
          </a:p>
        </p:txBody>
      </p:sp>
      <p:pic>
        <p:nvPicPr>
          <p:cNvPr id="34" name="Picture 33" descr="waste_bin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230" y="4924958"/>
            <a:ext cx="452628" cy="64282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122261" y="5254142"/>
            <a:ext cx="410565" cy="26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50%</a:t>
            </a:r>
          </a:p>
        </p:txBody>
      </p:sp>
      <p:pic>
        <p:nvPicPr>
          <p:cNvPr id="36" name="Picture 35" descr="waste_bin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2845" y="3983126"/>
            <a:ext cx="452628" cy="64282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243876" y="4312310"/>
            <a:ext cx="410565" cy="26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30%</a:t>
            </a:r>
          </a:p>
        </p:txBody>
      </p:sp>
      <p:pic>
        <p:nvPicPr>
          <p:cNvPr id="38" name="Picture 37" descr="waste_bin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2905" y="4479645"/>
            <a:ext cx="452628" cy="64282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723936" y="4808829"/>
            <a:ext cx="410565" cy="26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80%</a:t>
            </a:r>
          </a:p>
        </p:txBody>
      </p:sp>
      <p:pic>
        <p:nvPicPr>
          <p:cNvPr id="40" name="Picture 39" descr="waste_bin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2031" y="5528462"/>
            <a:ext cx="452628" cy="642823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043062" y="5857646"/>
            <a:ext cx="410565" cy="26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20%</a:t>
            </a:r>
          </a:p>
        </p:txBody>
      </p:sp>
      <p:pic>
        <p:nvPicPr>
          <p:cNvPr id="42" name="Picture 41" descr="waste_bin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3452" y="4682642"/>
            <a:ext cx="452628" cy="642823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444483" y="5011826"/>
            <a:ext cx="410565" cy="26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55%</a:t>
            </a:r>
          </a:p>
        </p:txBody>
      </p:sp>
      <p:pic>
        <p:nvPicPr>
          <p:cNvPr id="44" name="Picture 43" descr="waste_truck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6101791"/>
            <a:ext cx="1125626" cy="862279"/>
          </a:xfrm>
          <a:prstGeom prst="rect">
            <a:avLst/>
          </a:prstGeom>
        </p:spPr>
      </p:pic>
      <p:cxnSp>
        <p:nvCxnSpPr>
          <p:cNvPr id="943" name="Connector 943"/>
          <p:cNvCxnSpPr/>
          <p:nvPr/>
        </p:nvCxnSpPr>
        <p:spPr>
          <a:xfrm flipH="1" flipV="1">
            <a:off x="7319772" y="5515660"/>
            <a:ext cx="198424" cy="691286"/>
          </a:xfrm>
          <a:prstGeom prst="straightConnector1">
            <a:avLst/>
          </a:prstGeom>
          <a:ln w="19050">
            <a:solidFill>
              <a:srgbClr val="ED7D31"/>
            </a:solidFill>
            <a:tailEnd type="arrow"/>
          </a:ln>
        </p:spPr>
      </p:cxnSp>
      <p:cxnSp>
        <p:nvCxnSpPr>
          <p:cNvPr id="944" name="Connector 944"/>
          <p:cNvCxnSpPr/>
          <p:nvPr/>
        </p:nvCxnSpPr>
        <p:spPr>
          <a:xfrm flipH="1" flipV="1">
            <a:off x="6624828" y="5201107"/>
            <a:ext cx="482803" cy="144475"/>
          </a:xfrm>
          <a:prstGeom prst="straightConnector1">
            <a:avLst/>
          </a:prstGeom>
          <a:ln w="19050">
            <a:solidFill>
              <a:srgbClr val="ED7D31"/>
            </a:solidFill>
            <a:tailEnd type="arrow"/>
          </a:ln>
        </p:spPr>
      </p:cxnSp>
      <p:cxnSp>
        <p:nvCxnSpPr>
          <p:cNvPr id="945" name="Connector 945"/>
          <p:cNvCxnSpPr/>
          <p:nvPr/>
        </p:nvCxnSpPr>
        <p:spPr>
          <a:xfrm flipV="1">
            <a:off x="6436461" y="4616805"/>
            <a:ext cx="352044" cy="124358"/>
          </a:xfrm>
          <a:prstGeom prst="straightConnector1">
            <a:avLst/>
          </a:prstGeom>
          <a:ln w="19050">
            <a:solidFill>
              <a:srgbClr val="ED7D31"/>
            </a:solidFill>
            <a:tailEnd type="arrow"/>
          </a:ln>
        </p:spPr>
      </p:cxnSp>
      <p:cxnSp>
        <p:nvCxnSpPr>
          <p:cNvPr id="946" name="Connector 946"/>
          <p:cNvCxnSpPr/>
          <p:nvPr/>
        </p:nvCxnSpPr>
        <p:spPr>
          <a:xfrm flipV="1">
            <a:off x="7046366" y="4176064"/>
            <a:ext cx="206654" cy="133502"/>
          </a:xfrm>
          <a:prstGeom prst="straightConnector1">
            <a:avLst/>
          </a:prstGeom>
          <a:ln w="19050">
            <a:solidFill>
              <a:srgbClr val="ED7D31"/>
            </a:solidFill>
            <a:tailEnd type="arrow"/>
          </a:ln>
        </p:spPr>
      </p:cxnSp>
      <p:cxnSp>
        <p:nvCxnSpPr>
          <p:cNvPr id="947" name="Connector 947"/>
          <p:cNvCxnSpPr/>
          <p:nvPr/>
        </p:nvCxnSpPr>
        <p:spPr>
          <a:xfrm>
            <a:off x="7588605" y="4262018"/>
            <a:ext cx="341071" cy="217627"/>
          </a:xfrm>
          <a:prstGeom prst="straightConnector1">
            <a:avLst/>
          </a:prstGeom>
          <a:ln w="19050">
            <a:solidFill>
              <a:srgbClr val="ED7D31"/>
            </a:solidFill>
            <a:tailEnd type="arrow"/>
          </a:ln>
        </p:spPr>
      </p:cxnSp>
      <p:cxnSp>
        <p:nvCxnSpPr>
          <p:cNvPr id="948" name="Connector 948"/>
          <p:cNvCxnSpPr/>
          <p:nvPr/>
        </p:nvCxnSpPr>
        <p:spPr>
          <a:xfrm flipH="1">
            <a:off x="7737652" y="5097780"/>
            <a:ext cx="128016" cy="1109167"/>
          </a:xfrm>
          <a:prstGeom prst="straightConnector1">
            <a:avLst/>
          </a:prstGeom>
          <a:ln w="19050">
            <a:solidFill>
              <a:srgbClr val="ED7D31"/>
            </a:solidFill>
            <a:tailEnd type="arrow"/>
          </a:ln>
        </p:spPr>
      </p:cxnSp>
      <p:sp>
        <p:nvSpPr>
          <p:cNvPr id="949" name="Right Brace 948"/>
          <p:cNvSpPr/>
          <p:nvPr/>
        </p:nvSpPr>
        <p:spPr>
          <a:xfrm rot="5400000">
            <a:off x="7294168" y="-177393"/>
            <a:ext cx="295351" cy="8002828"/>
          </a:xfrm>
          <a:prstGeom prst="rightBrace">
            <a:avLst/>
          </a:prstGeom>
          <a:noFill/>
          <a:ln w="1905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Big Picture: Policy Configuration Space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3515258" cy="502920"/>
          </a:xfrm>
          <a:prstGeom prst="round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Mandatory Selection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3515258" cy="762609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Look-Ahead (LA)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63977"/>
            <a:ext cx="3515258" cy="762609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Last-Minute (LM, CF70)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36314"/>
            <a:ext cx="3515258" cy="762609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Last-Minute (LM, CF90)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308651"/>
            <a:ext cx="3515258" cy="762609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Service-Level (SL1)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180988"/>
            <a:ext cx="3515258" cy="762609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Service-Level (SL2)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1051560"/>
            <a:ext cx="3515258" cy="502920"/>
          </a:xfrm>
          <a:prstGeom prst="round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Route Constructor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1691640"/>
            <a:ext cx="3515258" cy="1325880"/>
          </a:xfrm>
          <a:prstGeom prst="rect">
            <a:avLst/>
          </a:prstGeom>
          <a:noFill/>
          <a:ln w="12700">
            <a:solidFill>
              <a:srgbClr val="5A6A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E74B5"/>
                </a:solidFill>
              </a:defRPr>
            </a:pPr>
            <a:r>
              <a:t>Exact Methods</a:t>
            </a:r>
          </a:p>
          <a:p>
            <a:pPr algn="ctr">
              <a:defRPr sz="1100">
                <a:solidFill>
                  <a:srgbClr val="1F2D3D"/>
                </a:solidFill>
              </a:defRPr>
            </a:pPr>
            <a:r>
              <a:t>BPC  ·  SWC-TCF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8218" y="3154680"/>
            <a:ext cx="3515258" cy="1325880"/>
          </a:xfrm>
          <a:prstGeom prst="rect">
            <a:avLst/>
          </a:prstGeom>
          <a:noFill/>
          <a:ln w="12700">
            <a:solidFill>
              <a:srgbClr val="5A6A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E74B5"/>
                </a:solidFill>
              </a:defRPr>
            </a:pPr>
            <a:r>
              <a:t>Meta-Heuristics</a:t>
            </a:r>
          </a:p>
          <a:p>
            <a:pPr algn="ctr">
              <a:defRPr sz="1100">
                <a:solidFill>
                  <a:srgbClr val="1F2D3D"/>
                </a:solidFill>
              </a:defRPr>
            </a:pPr>
            <a:r>
              <a:t>HGS  ·  ALNS  ·  SANS  ·  PG-CLNS  ·  PSOMA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8218" y="4617720"/>
            <a:ext cx="3515258" cy="1325880"/>
          </a:xfrm>
          <a:prstGeom prst="rect">
            <a:avLst/>
          </a:prstGeom>
          <a:noFill/>
          <a:ln w="12700">
            <a:solidFill>
              <a:srgbClr val="5A6A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E74B5"/>
                </a:solidFill>
              </a:defRPr>
            </a:pPr>
            <a:r>
              <a:t>Hyper-Heuristics</a:t>
            </a:r>
          </a:p>
          <a:p>
            <a:pPr algn="ctr">
              <a:defRPr sz="1100">
                <a:solidFill>
                  <a:srgbClr val="1F2D3D"/>
                </a:solidFill>
              </a:defRPr>
            </a:pPr>
            <a:r>
              <a:t>ACO-HH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051560"/>
            <a:ext cx="3515258" cy="502920"/>
          </a:xfrm>
          <a:prstGeom prst="round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Route Improver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91640"/>
            <a:ext cx="3515258" cy="2071116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Fast-TSP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3872484"/>
            <a:ext cx="3515258" cy="2071116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Classical Local Search (CLS)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Mandatory Node Selection Strategies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5730087" cy="3749040"/>
          </a:xfrm>
          <a:prstGeom prst="round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q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364327" cy="3383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74920"/>
            <a:ext cx="573008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A7A"/>
                </a:solidFill>
              </a:defRPr>
            </a:pPr>
            <a:r>
              <a:t>Variables</a:t>
            </a:r>
          </a:p>
        </p:txBody>
      </p:sp>
      <p:pic>
        <p:nvPicPr>
          <p:cNvPr id="6" name="Picture 5" descr="glossary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367528"/>
            <a:ext cx="4228620" cy="1261872"/>
          </a:xfrm>
          <a:prstGeom prst="rect">
            <a:avLst/>
          </a:prstGeom>
        </p:spPr>
      </p:pic>
      <p:pic>
        <p:nvPicPr>
          <p:cNvPr id="7" name="Picture 6" descr="knapsack_illust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27" y="1469190"/>
            <a:ext cx="5272887" cy="47425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Exact Methods: BPC &amp; SWC-TCF</a:t>
            </a:r>
          </a:p>
        </p:txBody>
      </p:sp>
      <p:pic>
        <p:nvPicPr>
          <p:cNvPr id="3" name="Picture 2" descr="bpc_ph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030"/>
            <a:ext cx="4417490" cy="5122340"/>
          </a:xfrm>
          <a:prstGeom prst="rect">
            <a:avLst/>
          </a:prstGeom>
        </p:spPr>
      </p:pic>
      <p:pic>
        <p:nvPicPr>
          <p:cNvPr id="4" name="Picture 3" descr="bb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690" y="1325030"/>
            <a:ext cx="6859803" cy="51223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Meta-Heuristics &amp; Hyper-Heuristics — Overarching Philosophy</a:t>
            </a:r>
          </a:p>
        </p:txBody>
      </p:sp>
      <p:pic>
        <p:nvPicPr>
          <p:cNvPr id="3" name="Picture 2" descr="metaheuristic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76" y="1051560"/>
            <a:ext cx="5306074" cy="2697480"/>
          </a:xfrm>
          <a:prstGeom prst="rect">
            <a:avLst/>
          </a:prstGeom>
        </p:spPr>
      </p:pic>
      <p:pic>
        <p:nvPicPr>
          <p:cNvPr id="4" name="Picture 3" descr="hyperheuristic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143" y="1051560"/>
            <a:ext cx="5306074" cy="2697480"/>
          </a:xfrm>
          <a:prstGeom prst="rect">
            <a:avLst/>
          </a:prstGeom>
        </p:spPr>
      </p:pic>
      <p:pic>
        <p:nvPicPr>
          <p:cNvPr id="5" name="Picture 4" descr="trajectory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88" y="3886200"/>
            <a:ext cx="5348651" cy="2697480"/>
          </a:xfrm>
          <a:prstGeom prst="rect">
            <a:avLst/>
          </a:prstGeom>
        </p:spPr>
      </p:pic>
      <p:pic>
        <p:nvPicPr>
          <p:cNvPr id="6" name="Picture 5" descr="population_over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9" y="3886200"/>
            <a:ext cx="5298483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Route Improvers: Classical Local Search vs Fast-TSP</a:t>
            </a:r>
          </a:p>
        </p:txBody>
      </p:sp>
      <p:pic>
        <p:nvPicPr>
          <p:cNvPr id="3" name="Picture 2" descr="ls_oper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918" y="1097280"/>
            <a:ext cx="10515857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Experimental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90007" y="1143000"/>
            <a:ext cx="2011680" cy="457200"/>
          </a:xfrm>
          <a:prstGeom prst="round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Simulation Runs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5364327" cy="54864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30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1696669" cy="457200"/>
          </a:xfrm>
          <a:prstGeom prst="rect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RM-100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69666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2D3D"/>
                </a:solidFill>
              </a:defRPr>
            </a:pPr>
            <a:r>
              <a:t>Empirical / Gamma-3</a:t>
            </a:r>
          </a:p>
        </p:txBody>
      </p:sp>
      <p:sp>
        <p:nvSpPr>
          <p:cNvPr id="7" name="Rectangle 6"/>
          <p:cNvSpPr/>
          <p:nvPr/>
        </p:nvSpPr>
        <p:spPr>
          <a:xfrm>
            <a:off x="2382469" y="2743200"/>
            <a:ext cx="1696669" cy="457200"/>
          </a:xfrm>
          <a:prstGeom prst="rect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RM-170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2469" y="3291840"/>
            <a:ext cx="169666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2D3D"/>
                </a:solidFill>
              </a:defRPr>
            </a:pPr>
            <a:r>
              <a:t>Empirical / Gamma-3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6298" y="2743200"/>
            <a:ext cx="1696669" cy="457200"/>
          </a:xfrm>
          <a:prstGeom prst="rect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FFZ-350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6298" y="3291840"/>
            <a:ext cx="169666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2D3D"/>
                </a:solidFill>
              </a:defRPr>
            </a:pPr>
            <a:r>
              <a:t>Empirical / Gamma-3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920240"/>
            <a:ext cx="5364327" cy="54864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90 Days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(Pareto-front policies only)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2743200"/>
            <a:ext cx="1696669" cy="457200"/>
          </a:xfrm>
          <a:prstGeom prst="rect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RM-100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3291840"/>
            <a:ext cx="169666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2D3D"/>
                </a:solidFill>
              </a:defRPr>
            </a:pPr>
            <a:r>
              <a:t>Empirical / Gamma-3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2556" y="2743200"/>
            <a:ext cx="1696669" cy="457200"/>
          </a:xfrm>
          <a:prstGeom prst="rect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RM-170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2556" y="3291840"/>
            <a:ext cx="169666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2D3D"/>
                </a:solidFill>
              </a:defRPr>
            </a:pPr>
            <a:r>
              <a:t>Empirical / Gamma-3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46385" y="2743200"/>
            <a:ext cx="1696669" cy="457200"/>
          </a:xfrm>
          <a:prstGeom prst="rect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FFZ-350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46385" y="3291840"/>
            <a:ext cx="169666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F2D3D"/>
                </a:solidFill>
              </a:defRPr>
            </a:pPr>
            <a:r>
              <a:t>Empirical / Gamma-3</a:t>
            </a:r>
          </a:p>
        </p:txBody>
      </p:sp>
      <p:pic>
        <p:nvPicPr>
          <p:cNvPr id="18" name="Picture 17" descr="riomaior100_selected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84" y="3794760"/>
            <a:ext cx="2573809" cy="2880360"/>
          </a:xfrm>
          <a:prstGeom prst="rect">
            <a:avLst/>
          </a:prstGeom>
        </p:spPr>
      </p:pic>
      <p:pic>
        <p:nvPicPr>
          <p:cNvPr id="19" name="Picture 18" descr="riomaior170_selected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222" y="3794760"/>
            <a:ext cx="2573809" cy="2880360"/>
          </a:xfrm>
          <a:prstGeom prst="rect">
            <a:avLst/>
          </a:prstGeom>
        </p:spPr>
      </p:pic>
      <p:pic>
        <p:nvPicPr>
          <p:cNvPr id="20" name="Picture 19" descr="figueiradafoz350_selected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407" y="3794760"/>
            <a:ext cx="3083715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Results — Pareto Front (Overflows vs KG / KM)</a:t>
            </a:r>
          </a:p>
        </p:txBody>
      </p:sp>
      <p:pic>
        <p:nvPicPr>
          <p:cNvPr id="3" name="Picture 2" descr="pareto_scatter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9891"/>
            <a:ext cx="11460175" cy="47868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Results — Strategy Trade-off (Overflows vs KG / KM)</a:t>
            </a:r>
          </a:p>
        </p:txBody>
      </p:sp>
      <p:pic>
        <p:nvPicPr>
          <p:cNvPr id="3" name="Picture 2" descr="strategy_bubble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70300"/>
            <a:ext cx="11460175" cy="47860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Results — Per-Scenario Heatmaps (Constructors × Strategy·Improver, Empirical Distribution)</a:t>
            </a:r>
          </a:p>
        </p:txBody>
      </p:sp>
      <p:pic>
        <p:nvPicPr>
          <p:cNvPr id="3" name="Picture 2" descr="scenario_constructor_heatmap_empir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05" y="1051560"/>
            <a:ext cx="1040640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Results — Overflow &amp; KG / KM Heatmaps, 90 Days (Policies × Scenarios)</a:t>
            </a:r>
          </a:p>
        </p:txBody>
      </p:sp>
      <p:pic>
        <p:nvPicPr>
          <p:cNvPr id="3" name="Picture 2" descr="policy_scenario_heatmap_over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37" y="1051560"/>
            <a:ext cx="5340613" cy="5623560"/>
          </a:xfrm>
          <a:prstGeom prst="rect">
            <a:avLst/>
          </a:prstGeom>
        </p:spPr>
      </p:pic>
      <p:pic>
        <p:nvPicPr>
          <p:cNvPr id="4" name="Picture 3" descr="policy_scenario_heatmap_kgk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338" y="1051560"/>
            <a:ext cx="544966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Results — Route Improver Comparison</a:t>
            </a:r>
          </a:p>
        </p:txBody>
      </p:sp>
      <p:pic>
        <p:nvPicPr>
          <p:cNvPr id="3" name="Picture 2" descr="improver_bubble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75804"/>
            <a:ext cx="11460175" cy="47750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Results — CLS Improver (30-Day Horizon)</a:t>
            </a:r>
          </a:p>
        </p:txBody>
      </p:sp>
      <p:pic>
        <p:nvPicPr>
          <p:cNvPr id="3" name="Picture 2" descr="full_result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1560"/>
            <a:ext cx="12191695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Conclusions, Limitations &amp; Future Work</a:t>
            </a:r>
          </a:p>
        </p:txBody>
      </p:sp>
      <p:pic>
        <p:nvPicPr>
          <p:cNvPr id="3" name="Picture 2" descr="policy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58863"/>
            <a:ext cx="5357844" cy="5454673"/>
          </a:xfrm>
          <a:prstGeom prst="rect">
            <a:avLst/>
          </a:prstGeom>
        </p:spPr>
      </p:pic>
      <p:pic>
        <p:nvPicPr>
          <p:cNvPr id="4" name="Picture 3" descr="policy_radar_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044" y="1158863"/>
            <a:ext cx="5919449" cy="545467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Acknowledgements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>
                <a:solidFill>
                  <a:srgbClr val="C9D6E4"/>
                </a:solidFill>
              </a:defRPr>
            </a:pPr>
            <a:r>
              <a:t>This work was supported by FCT – Foundation for Science and Technology, I.P., under project 2022.04180.PTDC and individual PhD research grant - 2025.06860.BDANA</a:t>
            </a:r>
          </a:p>
        </p:txBody>
      </p:sp>
      <p:pic>
        <p:nvPicPr>
          <p:cNvPr id="5" name="Picture 4" descr="2022_FCT_Logo_B_horizontal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447" y="4572000"/>
            <a:ext cx="4114800" cy="231502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5090007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Thank You — Questions &amp; Answers</a:t>
            </a:r>
          </a:p>
          <a:p>
            <a:pPr algn="l">
              <a:defRPr sz="1600">
                <a:solidFill>
                  <a:srgbClr val="C9D6E4"/>
                </a:solidFill>
              </a:defRPr>
            </a:pPr>
            <a:r>
              <a:t>Thank you for your attention!</a:t>
            </a:r>
          </a:p>
          <a:p>
            <a:pPr algn="l">
              <a:defRPr sz="1600">
                <a:solidFill>
                  <a:srgbClr val="C9D6E4"/>
                </a:solidFill>
              </a:defRPr>
            </a:pPr>
            <a:r>
              <a:t>Time for questions</a:t>
            </a:r>
          </a:p>
        </p:txBody>
      </p:sp>
      <p:pic>
        <p:nvPicPr>
          <p:cNvPr id="4" name="Picture 3" descr="qa_route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7" y="717978"/>
            <a:ext cx="5364327" cy="54220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