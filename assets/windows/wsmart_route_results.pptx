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 Simulation Framework for the Multi-Period Vehicle Routing Problem with Profits in Smart Waste Collection</a:t>
            </a:r>
          </a:p>
          <a:p>
            <a:pPr>
              <a:spcBef>
                <a:spcPts val="1000"/>
              </a:spcBef>
              <a:defRPr sz="17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Afonso Cruz Fernandes¹</a:t>
            </a:r>
          </a:p>
          <a:p>
            <a:pPr>
              <a:spcBef>
                <a:spcPts val="600"/>
              </a:spcBef>
              <a:defRPr sz="1400">
                <a:solidFill>
                  <a:srgbClr val="C9D6E4"/>
                </a:solidFill>
              </a:defRPr>
            </a:pPr>
            <a:r>
              <a:t>with Héctor Bonilla-Londoño², Diana Jorge², Manuel Lopes¹, Pedro A. Santos¹, Tânia Ramos²</a:t>
            </a:r>
          </a:p>
          <a:p>
            <a:pPr>
              <a:spcBef>
                <a:spcPts val="1000"/>
              </a:spcBef>
              <a:defRPr sz="1100" i="1">
                <a:solidFill>
                  <a:srgbClr val="8A9BB0"/>
                </a:solidFill>
              </a:defRPr>
            </a:pPr>
            <a:r>
              <a:t>¹ INESC-ID, Instituto Superior Técnico, University of Lisbon   ·   ² CEGIST, Instituto Superior Técnico, University of Lisbon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Introduction — VRPP, Simulator Philosophy &amp; Objective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Route Constructors &amp; Route Improvers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Results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x</m:t>
                          </m:r>
                        </m:lim>
                      </m:limLow>
                      <m:r>
                        <m:t> </m:t>
                      </m:r>
                      <m:r>
                        <m:t> 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V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 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 </m:t>
                      </m:r>
                      <m:r>
                        <m:t>c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max_y,,x sum_i in V p_i, y_i - c sum_(i,j) in A d_ij, x_ij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t> </m:t>
                      </m:r>
                      <m:r>
                        <m:t> 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V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≤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x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t> </m:t>
                      </m:r>
                      <m:r>
                        <m:t>y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s.t. sum_i in V q_i, y_i leq Q,quad x routes the selected y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1: </a:t>
            </a:r>
            <a:r>
              <a:rPr i="1" sz="1100">
                <a:solidFill>
                  <a:srgbClr val="5A6A7A"/>
                </a:solidFill>
              </a:rPr>
              <a:t>Objective: maximise collected profit minus travel cost, choosing which nodes y to visit and how x routes them, subject to the vehicle capacity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11094415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Unlike the classical VRP, only a profitable subset of nodes is visited: profit p_i (waste kg) vs travel cost c·d_ij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 waste collection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Two conflicting KPIs: bin overflows (service quality, ↓) and kg/km route efficiency (cost, ↑)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Multi-day sequential decision problem over scenarios: RM-100, RM-170, FFZ-350 × {Empirical, Gamma-3} × {30, 90}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Objective of this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Benchmark, under one simulation framework, the full space of daily routing policies for the multi-period VRPP in smart waste collection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Exact methods: Branch-Price-and-Cut (BPC) and SWC-TCF — optimality reference points at the daily-subproblem scale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Meta-heuristics: Hybrid Genetic Search (HGS), Adaptive Large Neighborhood Search (ALNS), Simulated Annealing Neighborhood Search (SANS), Policy-Gradient CLNS (PG-CLNS)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Hyper-heuristics: Particle Swarm Optimisation Memetic Algorithm (PSOMA) and Ant Colony Optimisation Hyper-Heuristic (ACO-HH)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Question: which combination of mandatory selection strategy, route constructor and route improver dominates the overflow vs kg/km trade-off, and how stable is that answer across scenarios and horizons?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1: </a:t>
            </a:r>
            <a:r>
              <a:rPr i="1" sz="1100">
                <a:solidFill>
                  <a:srgbClr val="5A6A7A"/>
                </a:solidFill>
              </a:rPr>
              <a:t>Every daily routing policy decomposes into a mandatory bin-selection strategy, a route constructor, an optional acceptance criterion and an optional route improver.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66543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883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Look-Ahead (LA):</m:t>
                      </m:r>
                      <m:r>
                        <m:t> </m:t>
                      </m:r>
                      <m:r>
                        <m:t> 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≥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y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Look-Ahead (LA): hatf_i(t + delta) geq 100% Rightarrow collect today (proactive)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Last-Minute (LM):</m:t>
                      </m:r>
                      <m:r>
                        <m:t> </m:t>
                      </m:r>
                      <m:r>
                        <m:t> 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≥</m:t>
                      </m:r>
                      <m:r>
                        <m:t>C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C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70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90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Last-Minute (LM): f_i(t) geq CF, quad CF in 70%, 90% (reactive)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Service-Level (SL):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≥</m:t>
                          </m:r>
                          <m:r>
                            <m:t>100</m:t>
                          </m:r>
                          <m:r>
                            <m:rPr>
                              <m:sty m:val="p"/>
                            </m:rPr>
                            <m:t>%</m:t>
                          </m:r>
                        </m:e>
                      </m:d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α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n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Service-Level (SL): P(f_i geq 100%) leq 1 - alpha quad (probabilistic guarantee)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3392423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2: </a:t>
            </a:r>
            <a:r>
              <a:rPr i="1" sz="1100">
                <a:solidFill>
                  <a:srgbClr val="5A6A7A"/>
                </a:solidFill>
              </a:rPr>
              <a:t>The three mandatory selection rules — Look-Ahead (LA) forecasts fill level f_i at t+δ, Last-Minute (LM) reacts once f_i crosses a critical fill threshold CF, and Service-Level (SL) bounds each bin's overflow probability by a target confidence 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9663"/>
            <a:ext cx="11094415" cy="2322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(LA) anticipates predicted overflows; Last-Minute (LM) waits for a critical fill threshold; Service-Level (SL)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Big Picture: Policy Configuration 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Look-Ahead (LA)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6817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CF70)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61994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CF90)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97171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32348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Constructor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169164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Exact Methods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BPC  ·  SWC-TCF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292608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Meta-Heuristics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HGS  ·  ALNS  ·  SANS  ·  PG-CLNS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416052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Hyper-Heuristics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PSOMA  ·  ACO-HH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91640"/>
            <a:ext cx="3515258" cy="17282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Fast-TSP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3529584"/>
            <a:ext cx="3515258" cy="17282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Local Search (CLS)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2: </a:t>
            </a:r>
            <a:r>
              <a:rPr i="1" sz="1100">
                <a:solidFill>
                  <a:srgbClr val="5A6A7A"/>
                </a:solidFill>
              </a:rPr>
              <a:t>Every simulated policy is one path through the three columns: a mandatory selection strategy, a route constructor (exact / meta-heuristic / hyper-heuristic) and an optional route improver.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Mandatory selection × route constructor × route improver — every combination is run through the same multi-day simulator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Exact methods and meta-/hyper-heuristics are interchangeable route constructors under the identical selection and improvement stages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Methods: BPC &amp; SWC-TCF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932688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6432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p"/>
                        </m:rPr>
                        <m:t>min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</m:rPr>
                            <m:t>Ω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t> 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</m:rPr>
                            <m:t>Ω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r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∀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≥</m:t>
                      </m:r>
                      <m:r>
                        <m:t>0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min sum_r in Omega c_r, lambda_r quad s.t. quad sum_r in Omega a_ir, lambda_r = 1 forall i in V, quad lambda_r geq 0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258568"/>
            <a:ext cx="573008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3: </a:t>
            </a:r>
            <a:r>
              <a:rPr i="1" sz="1100">
                <a:solidFill>
                  <a:srgbClr val="5A6A7A"/>
                </a:solidFill>
              </a:rPr>
              <a:t>Set-partitioning master problem: choose a minimum-cost combination of routes r ∈ Ω (weight λ_r) such that every node i is covered exactly once (a_ir = 1 iff route r visits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35808"/>
            <a:ext cx="5730087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Branch-Price-and-Cut (BPC): column generation over the route set Ω with cutting planes — proven optimality (BHV2000 lineage)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SWC-TCF: exact set-partitioning over Clarke-Wright-style savings columns with traffic-congestion-adjusted costs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Both provide optimality reference points; exponential worst-case runtime limits them to the daily subproblem sizes</a:t>
            </a:r>
          </a:p>
        </p:txBody>
      </p:sp>
      <p:pic>
        <p:nvPicPr>
          <p:cNvPr id="7" name="Picture 6" descr="constructor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2271037"/>
            <a:ext cx="5364327" cy="2956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 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 </m:t>
                          </m:r>
                          <m:r>
                            <m:rPr>
                              <m:sty m:val="p"/>
                            </m:rPr>
                            <m:t>f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d</m:t>
                          </m:r>
                          <m:r>
                            <m:rPr>
                              <m:sty m:val="p"/>
                            </m:rPr>
                            <m:t>b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k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x_t+1 = A(x_t; theta_t), qquad theta_t+1 = U(theta_t, feedback)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y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e</m:t>
                      </m:r>
                      <m:r>
                        <m:rPr>
                          <m:sty m:val="b"/>
                        </m:rPr>
                        <m:t>r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sSubSup>
                        <m:e>
                          <m:r>
                            <m:t>h</m:t>
                          </m:r>
                        </m:e>
                        <m:sub>
                          <m: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H</m:t>
                          </m:r>
                        </m:lim>
                      </m:limLow>
                      <m:r>
                        <m:t> 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Hyper: h^*_t = argmax_h in H Q_t(h) quad (search over heuristics)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4: </a:t>
            </a:r>
            <a:r>
              <a:rPr i="1" sz="1100">
                <a:solidFill>
                  <a:srgbClr val="5A6A7A"/>
                </a:solidFill>
              </a:rPr>
              <a:t>A meta-heuristic maps the incumbent x_t to a new candidate via operator A parameterised by θ_t, updated from feedback; a hyper-heuristic instead searches over low-level heuristics h ∈ H, picking the one with highest estimated value Q_t(h)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11094415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methods'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Evolutionary — HGS: population-based, ordered crossover + aggressive local search, biased fitness balances quality and diversity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Swarm intelligence — PSOMA: particle swarm + memetic refinement (best-overflow performer); ACO-HH: pheromones over low-level heuristics, most robust all-rounder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Trajectory-based — SANS: simulated annealing accepts worsening moves under a cooling schedule; PG-CLNS: destroy-and-repair LNS whose operator choice is learned via policy gradients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families, one shared interface: each plugs into the pipeline as an interchangeable route constructor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64327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b"/>
                        </m:rPr>
                        <m:t>o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Δ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&lt;</m:t>
                      </m:r>
                      <m:r>
                        <m:t>0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y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2-opt: Delta = d_i,i+1 + d_j,j+1 - d_i,j - d_i+1,j+1 &lt; 0 Rightarrow apply</a:t>
                </a:r>
              </mc:Fallback>
            </mc:AlternateContent>
          </a:p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F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sub>
                          </m:sSub>
                        </m:e>
                      </m:nary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t> 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20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FTSP: min_pi sum_k d_pi(k), pi(k+1) quad (SLS for N &gt; 20)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573008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5: </a:t>
            </a:r>
            <a:r>
              <a:rPr i="1" sz="1100">
                <a:solidFill>
                  <a:srgbClr val="5A6A7A"/>
                </a:solidFill>
              </a:rPr>
              <a:t>2-opt accepts an edge swap whenever the resulting distance change Δ is negative. Fast-TSP reorders each route's visiting sequence π to minimise total distance — solved exactly for small routes and via Stochastic Local Search (SLS) once N exceeds 20 stops.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5730087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  <p:pic>
        <p:nvPicPr>
          <p:cNvPr id="7" name="Picture 6" descr="improver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2761474"/>
            <a:ext cx="5364327" cy="19751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Design of Experiments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90007" y="1143000"/>
            <a:ext cx="2011680" cy="45720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Simulation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82469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469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6298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298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90 Days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(Pareto-front policies 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2556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2556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46385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6385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3: </a:t>
            </a:r>
            <a:r>
              <a:rPr i="1" sz="1100">
                <a:solidFill>
                  <a:srgbClr val="5A6A7A"/>
                </a:solidFill>
              </a:rPr>
              <a:t>Every scenario (region × graph size × waste distribution) is simulated for both the 30-day and the 90-day horizon; the 90-day runs are restricted to the 30-day Pareto-front policies.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Regions/graph sizes: RM-100, RM-170 (Rio Maior), FFZ-350 (Figueira da Foz) — two waste distributions each: Empirical and Gamma-3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5 mandatory selection variants × 8 route constructors × up to 2 improvers, replicated at 30 and 90 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8266"/>
            <a:ext cx="11460175" cy="43272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4: </a:t>
            </a:r>
            <a:r>
              <a:rPr i="1" sz="1100">
                <a:solidFill>
                  <a:srgbClr val="5A6A7A"/>
                </a:solidFill>
              </a:rP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391" y="1051560"/>
            <a:ext cx="8068912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139" y="3611880"/>
            <a:ext cx="8073417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5: </a:t>
            </a:r>
            <a:r>
              <a:rPr i="1" sz="1100">
                <a:solidFill>
                  <a:srgbClr val="5A6A7A"/>
                </a:solidFill>
              </a:rP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Strategy Trade-off (Overflows vs kg/km)</a:t>
            </a:r>
          </a:p>
        </p:txBody>
      </p:sp>
      <p:pic>
        <p:nvPicPr>
          <p:cNvPr id="3" name="Picture 2" descr="strategy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9922"/>
            <a:ext cx="11460175" cy="482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6: </a:t>
            </a:r>
            <a:r>
              <a:rPr i="1" sz="1100">
                <a:solidFill>
                  <a:srgbClr val="5A6A7A"/>
                </a:solidFill>
              </a:rPr>
              <a:t>Each bubble = (selection strategy, scenario) averaged over constructors and improvers — coloured by mandatory selection strategy (LA/LM/SL).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70" y="1051560"/>
            <a:ext cx="6149674" cy="34747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74320" y="4663440"/>
            <a:ext cx="11643055" cy="100584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E74B5"/>
                </a:solidFill>
              </a:defRPr>
            </a:pPr>
            <a:r>
              <a:t>Shared axis labels</a:t>
            </a:r>
          </a:p>
          <a:p>
            <a:pPr>
              <a:spcBef>
                <a:spcPts val="300"/>
              </a:spcBef>
              <a:defRPr sz="1050">
                <a:solidFill>
                  <a:srgbClr val="1F2D3D"/>
                </a:solidFill>
              </a:defRPr>
            </a:pPr>
            <a:r>
              <a:t>Rows (all 12 panels): route constructor — ACO_HH, ALNS, BPC, HGS, PG-CLNS, PSOMA, SANS, SWC-TCF.</a:t>
            </a:r>
          </a:p>
          <a:p>
            <a:pPr>
              <a:spcBef>
                <a:spcPts val="300"/>
              </a:spcBef>
              <a:defRPr sz="1050">
                <a:solidFill>
                  <a:srgbClr val="1F2D3D"/>
                </a:solidFill>
              </a:defRPr>
            </a:pPr>
            <a:r>
              <a:t>Columns (all 12 panels): mandatory selection strategy × route improver — LA/LM/SL × FTSP/CLS.</a:t>
            </a:r>
          </a:p>
          <a:p>
            <a:pPr>
              <a:spcBef>
                <a:spcPts val="300"/>
              </a:spcBef>
              <a:defRPr sz="1050">
                <a:solidFill>
                  <a:srgbClr val="1F2D3D"/>
                </a:solidFill>
              </a:defRPr>
            </a:pPr>
            <a:r>
              <a:t>Axis tick labels are shown once here rather than repeated in tiny print on every one of the 6 scenario panels.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7: </a:t>
            </a:r>
            <a:r>
              <a:rPr i="1" sz="1100">
                <a:solidFill>
                  <a:srgbClr val="5A6A7A"/>
                </a:solidFill>
              </a:rPr>
              <a:t>30-day runs. One panel per scenario; route constructors on the rows, selection × improver combinations on the columns.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88" y="1051560"/>
            <a:ext cx="4564911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269" y="1051560"/>
            <a:ext cx="453580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8: </a:t>
            </a:r>
            <a:r>
              <a:rPr i="1" sz="1100">
                <a:solidFill>
                  <a:srgbClr val="5A6A7A"/>
                </a:solidFill>
              </a:rP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9110"/>
            <a:ext cx="11460175" cy="48255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9: </a:t>
            </a:r>
            <a:r>
              <a:rPr i="1" sz="1100">
                <a:solidFill>
                  <a:srgbClr val="5A6A7A"/>
                </a:solidFill>
              </a:rP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Full Table (30-Day Horizon)</a:t>
            </a:r>
          </a:p>
        </p:txBody>
      </p:sp>
      <p:pic>
        <p:nvPicPr>
          <p:cNvPr id="3" name="Picture 2" descr="full_resul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869653"/>
            <a:ext cx="11643055" cy="1301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Table 1: </a:t>
            </a:r>
            <a:r>
              <a:rPr i="1" sz="1100">
                <a:solidFill>
                  <a:srgbClr val="5A6A7A"/>
                </a:solidFill>
              </a:rPr>
              <a:t>Full results table — rows: graph size × region × data distribution; columns: mandatory selection strategy × route constructor × route improver. In every cell, the top value is mean±std overflows (lower is better) and the bottom value is mean±std kg/km (higher is better); the best value per row is shown in bold green.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308863"/>
            <a:ext cx="5730087" cy="4880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10: </a:t>
            </a:r>
            <a:r>
              <a:rPr i="1" sz="1100">
                <a:solidFill>
                  <a:srgbClr val="5A6A7A"/>
                </a:solidFill>
              </a:rPr>
              <a:t>Overlaid radar chart comparing key route constructors across overflow, efficiency, distance and profit axes — outer position indicates better performance on that axis.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trade-off: SL prevents overflows (SL2 + ACO_HH reached 0 at FFZ-350), LM (CF90) maximises kg/km (~12), LA balances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single vehicle type/depot per region; waste models calibrated on limited data; 90-day runs only cover the 30-day Pareto-front policies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richer acceptance criteria, neural constructors (e.g. Attention Model) in the same pipeline, multi-vehicle fleets, intra-day re-routing, CO₂-aware objectives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5090007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  <p:pic>
        <p:nvPicPr>
          <p:cNvPr id="4" name="Picture 3" descr="qa_route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717978"/>
            <a:ext cx="5364327" cy="54220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