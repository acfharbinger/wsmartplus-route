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WSmart+ Route — Adaptive Routing Policies for Smart Waste Collection</a:t>
            </a:r>
          </a:p>
          <a:p>
            <a:pPr>
              <a:defRPr sz="20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Afonso Fernandes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The Vehicle Routing Problem with Profits (VRPP)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Routing Simulator Philosophy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Exact Solvers: BPC &amp; SWC-TCF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Meta-Heuristics &amp; Hyper-Heuristics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6.  Evolutionary Algorithms: HGS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7.  Swarm Intelligence: PSOMA &amp; ACO-HH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8.  Neighborhood Search: SANS &amp; PG-CLNS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9.  Route Improvers: Classical Local Search vs Fast-TSP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10.  Results — Pareto Front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11.  Results — Summary KPI Analysis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12.  Results — Per-Scenario Heatmaps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13.  Results — Policy × Scenario Heatmaps (90 days)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14.  Results — Route Improver Comparison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12" y="1234440"/>
            <a:ext cx="6388070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Unlike the classical VRP, only a profitable subset of nodes is visited: profit p_i (waste kg) vs travel cost c·d_ij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 waste collection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Two conflicting KPIs: bin overflows (service quality, ↓) and kg/km route efficiency (cost, ↑)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Multi-day sequential decision problem over scenarios: RM-100, RM-170, FFZ-350 × {Empirical, Gamma-3} × {30, 90}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7432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586" y="1234440"/>
            <a:ext cx="7900522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anticipates predicted overflows; Last-Minute waits for a critical fill threshold; Service-Level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Solvers: BPC &amp; SWC-TCF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3716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16" y="1234440"/>
            <a:ext cx="9853863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Branch-Price-and-Cut (BPC): column generation over the route set Ω with cutting planes — proven optimality (BHV2000 lineage)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SWC-TCF: exact set-partitioning over Clarke-Wright-style savings columns with traffic-congestion-adjusted costs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Both provide optimality reference points; exponential worst-case runtime limits them to the daily subproblem sizes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838" y="1234440"/>
            <a:ext cx="9230019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solvers'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Meta-heuristics balance exploration (diversify, escape local optima) and exploitation (intensify, polish good solutions)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Hyper-heuristics search the space of heuristics itself, learning which low-level operator to apply next (e.g. ACO-HH)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 studied: evolutionary (HGS), swarm intelligence (PSOMA, ACO-HH), neighborhood search (SANS, PG-CLNS)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Evolutionary Algorithms — HGS (Hybrid Genetic Search)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3716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07" y="1234440"/>
            <a:ext cx="10420681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743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Population-based: parents recombine via ordered crossover; every offspring is 'educated' by aggressive local search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Biased fitness (above) blends solution quality with diversity contribution — prevents premature convergence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Infeasible individuals survive in a penalised sub-population, letting the search cross infeasible regions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State-of-the-art on classical CVRP; strong efficiency performer here when paired with the CLS improver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Swarm Intelligence — PSOMA &amp; ACO-HH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797" y="1234440"/>
            <a:ext cx="7494100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Many simple agents share information; global order emerges from local interactions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PSOMA: particles attracted by personal/global bests + a memetic local-search refinement phase — consistent best-overflow performer in the empirical scenarios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ACO-HH: pheromones are laid over low-level heuristics (h) rather than arcs — the colony learns the best sequence of constructive operators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ACO-HH is the most robust all-rounder: Pareto-optimal in multiple scenarios (zero-overflow SL2 configs at FFZ-350)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Neighborhood Search — SANS &amp; PG-CLNS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835" y="1234440"/>
            <a:ext cx="8398025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Trajectory-based: iteratively perturb the incumbent through neighbourhood moves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SANS: simulated annealing accepts worsening moves with probability e^(−Δ/T); cooling shifts exploration → exploitation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PG-CLNS: destroy-and-repair large-neighborhood search whose operator selection is learned online via policy gradients, adapting to instance context (fill levels, geography)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PG-CLNS is a standout overflow performer: SL1 + PG-CLNS reaches the Pareto front with ~1 overflow / 30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5740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168" y="1234440"/>
            <a:ext cx="9151358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429000"/>
            <a:ext cx="1109441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3163"/>
            <a:ext cx="11460175" cy="42574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337" y="1051560"/>
            <a:ext cx="8275020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182" y="3611880"/>
            <a:ext cx="827733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432" y="1051560"/>
            <a:ext cx="905795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30-day runs. One panel per scenario; route constructors on the rows, selection × improver combinations on the columns.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84" y="1051560"/>
            <a:ext cx="4706518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988" y="1051560"/>
            <a:ext cx="467036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4755"/>
            <a:ext cx="11460175" cy="465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333266"/>
            <a:ext cx="5730087" cy="48315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280160"/>
            <a:ext cx="545576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trade-off: SL prevents overflows (SL2 + ACO_HH reached 0 at FFZ-350), LM (CF90) maximises kg/km (~12), LA balances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single vehicle type/depot per region; waste models calibrated on limited data; 90-day runs only cover the 30-day Pareto-front policies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richer acceptance criteria, neural constructors in the same pipeline, multi-vehicle fleets, intra-day re-routing, CO₂-aware objectives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