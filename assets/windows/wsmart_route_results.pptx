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94760"/>
            <a:ext cx="12191695" cy="54864"/>
          </a:xfrm>
          <a:prstGeom prst="rect">
            <a:avLst/>
          </a:prstGeom>
          <a:solidFill>
            <a:srgbClr val="2E74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 Simulation Framework for the Multi-Period Vehicle Routing Problem with Profits in Smart Waste Collection</a:t>
            </a:r>
          </a:p>
          <a:p>
            <a:pPr>
              <a:spcBef>
                <a:spcPts val="1000"/>
              </a:spcBef>
              <a:defRPr sz="1700">
                <a:solidFill>
                  <a:srgbClr val="C9D6E4"/>
                </a:solidFill>
              </a:defRPr>
            </a:pPr>
            <a:r>
              <a:t>Simulation Study of Selection Strategies, Route Constructors and Improvers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54577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FFFFF"/>
                </a:solidFill>
              </a:defRPr>
            </a:pPr>
            <a:r>
              <a:t>Afonso Cruz Fernandes¹</a:t>
            </a:r>
          </a:p>
          <a:p>
            <a:pPr>
              <a:spcBef>
                <a:spcPts val="600"/>
              </a:spcBef>
              <a:defRPr sz="1400">
                <a:solidFill>
                  <a:srgbClr val="C9D6E4"/>
                </a:solidFill>
              </a:defRPr>
            </a:pPr>
            <a:r>
              <a:t>with Héctor Bonilla-Londoño², Diana Jorge², Manuel Lopes¹, Pedro A. Santos¹, Tânia Ramos²</a:t>
            </a:r>
          </a:p>
          <a:p>
            <a:pPr>
              <a:spcBef>
                <a:spcPts val="1000"/>
              </a:spcBef>
              <a:defRPr sz="1100" i="1">
                <a:solidFill>
                  <a:srgbClr val="8A9BB0"/>
                </a:solidFill>
              </a:defRPr>
            </a:pPr>
            <a:r>
              <a:t>¹ INESC-ID, Instituto Superior Técnico, University of Lisbon   ·   ² CEGIST, Instituto Superior Técnico, University of Lisbon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5364327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1.  Introduction — VRPP, Simulator Philosophy &amp; Objective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2.  Mandatory Node Selection Strategies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3.  Route Constructors &amp; Route Improvers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1280160"/>
            <a:ext cx="5364327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4.  Results</a:t>
            </a:r>
          </a:p>
          <a:p>
            <a:pPr>
              <a:spcAft>
                <a:spcPts val="1200"/>
              </a:spcAft>
              <a:defRPr sz="1600">
                <a:solidFill>
                  <a:srgbClr val="1F2D3D"/>
                </a:solidFill>
              </a:defRPr>
            </a:pPr>
            <a:r>
              <a:t>5.  Conclusions, Limitations &amp;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The Problem: Vehicle Routing Problem with Profits (VRPP)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1499616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 </m:t>
                          </m:r>
                          <m:r>
                            <m:t>x</m:t>
                          </m:r>
                        </m:lim>
                      </m:limLow>
                      <m:r>
                        <m:t> </m:t>
                      </m:r>
                      <m:r>
                        <m:t> 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V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p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t> 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 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 </m:t>
                      </m:r>
                      <m:r>
                        <m:t>c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A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r>
                        <m:t> 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1F2D3D"/>
                    </a:solidFill>
                  </a:rPr>
                  <a:t>max_y,,x sum_i in V p_i, y_i - c sum_(i,j) in A d_ij, x_ij</a:t>
                </a:r>
              </mc:Fallback>
            </mc:AlternateContent>
          </a:p>
          <a:p>
            <a:pPr algn="ctr">
              <a:defRPr sz="20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t> </m:t>
                      </m:r>
                      <m:r>
                        <m:t> 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V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q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t> 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≤</m:t>
                      </m:r>
                      <m:r>
                        <m:t>Q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x</m:t>
                      </m:r>
                      <m:r>
                        <m:t> 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o</m:t>
                      </m:r>
                      <m:r>
                        <m:rPr>
                          <m:sty m:val="p"/>
                        </m:rPr>
                        <m:t>u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 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h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 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l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d</m:t>
                      </m:r>
                      <m:r>
                        <m:t> </m:t>
                      </m:r>
                      <m:r>
                        <m:t>y</m:t>
                      </m:r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1F2D3D"/>
                    </a:solidFill>
                  </a:rPr>
                  <a:t>s.t. sum_i in V q_i, y_i leq Q,quad x routes the selected y</a:t>
                </a:r>
              </mc:Fallback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548640" y="2825496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1: </a:t>
            </a:r>
            <a:r>
              <a:rPr i="1" sz="1100">
                <a:solidFill>
                  <a:srgbClr val="5A6A7A"/>
                </a:solidFill>
              </a:rPr>
              <a:t>Objective: maximise collected profit minus travel cost, choosing which nodes y to visit and how x routes them, subject to the vehicle capacity Q.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02736"/>
            <a:ext cx="11094415" cy="2889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Unlike the classical VRP, only a profitable subset of nodes is visited: profit p_i (waste kg) vs travel cost c·d_ij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In waste collection bins fill stochastically day by day — skipping a bin saves distance but risks overflow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Two conflicting KPIs: bin overflows (service quality, ↓) and kg/km route efficiency (cost, ↑)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Multi-day sequential decision problem over scenarios: RM-100, RM-170, FFZ-350 × {Empirical, Gamma-3} × {30, 90} days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Objective of this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94415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Benchmark, under one simulation framework, the full space of daily routing policies for the multi-period VRPP in smart waste collection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Exact methods: Branch-Price-and-Cut (BPC) and SWC-TCF — optimality reference points at the daily-subproblem scale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Meta-heuristics: Hybrid Genetic Search (HGS), Adaptive Large Neighborhood Search (ALNS), Simulated Annealing Neighborhood Search (SANS), Policy-Gradient CLNS (PG-CLNS)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Hyper-heuristics: Particle Swarm Optimisation Memetic Algorithm (PSOMA) and Ant Colony Optimisation Hyper-Heuristic (ACO-HH)</a:t>
            </a:r>
          </a:p>
          <a:p>
            <a:pPr>
              <a:spcAft>
                <a:spcPts val="1000"/>
              </a:spcAft>
              <a:defRPr sz="1600">
                <a:solidFill>
                  <a:srgbClr val="1F2D3D"/>
                </a:solidFill>
              </a:defRPr>
            </a:pPr>
            <a:r>
              <a:t>•  Question: which combination of mandatory selection strategy, route constructor and route improver dominates the overflow vs kg/km trade-off, and how stable is that answer across scenarios and horizons?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Routing Simulator Philosophy — Modular Policy Pipeline</a:t>
            </a:r>
          </a:p>
        </p:txBody>
      </p:sp>
      <p:sp>
        <p:nvSpPr>
          <p:cNvPr id="3" name="Chevron 2"/>
          <p:cNvSpPr/>
          <p:nvPr/>
        </p:nvSpPr>
        <p:spPr>
          <a:xfrm>
            <a:off x="548640" y="1554480"/>
            <a:ext cx="2602153" cy="1371600"/>
          </a:xfrm>
          <a:prstGeom prst="chevron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Mandatory bin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selection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017520"/>
            <a:ext cx="260215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A6A7A"/>
                </a:solidFill>
              </a:defRPr>
            </a:pPr>
            <a:r>
              <a:t>LA · LM · SL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which bins today?</a:t>
            </a:r>
          </a:p>
        </p:txBody>
      </p:sp>
      <p:sp>
        <p:nvSpPr>
          <p:cNvPr id="5" name="Chevron 4"/>
          <p:cNvSpPr/>
          <p:nvPr/>
        </p:nvSpPr>
        <p:spPr>
          <a:xfrm>
            <a:off x="3379393" y="1554480"/>
            <a:ext cx="2602153" cy="1371600"/>
          </a:xfrm>
          <a:prstGeom prst="chevron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Route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constructor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79393" y="3017520"/>
            <a:ext cx="260215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A6A7A"/>
                </a:solidFill>
              </a:defRPr>
            </a:pPr>
            <a:r>
              <a:t>exact · meta-h. · hyper-h.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build the routes</a:t>
            </a:r>
          </a:p>
        </p:txBody>
      </p:sp>
      <p:sp>
        <p:nvSpPr>
          <p:cNvPr id="7" name="Chevron 6"/>
          <p:cNvSpPr/>
          <p:nvPr/>
        </p:nvSpPr>
        <p:spPr>
          <a:xfrm>
            <a:off x="6210146" y="1554480"/>
            <a:ext cx="2602153" cy="1371600"/>
          </a:xfrm>
          <a:prstGeom prst="chevron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Acceptance criterion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(optional)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0146" y="3017520"/>
            <a:ext cx="260215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A6A7A"/>
                </a:solidFill>
              </a:defRPr>
            </a:pPr>
            <a:r>
              <a:t>constructor-dependent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e.g. BMC, OI</a:t>
            </a:r>
          </a:p>
        </p:txBody>
      </p:sp>
      <p:sp>
        <p:nvSpPr>
          <p:cNvPr id="9" name="Chevron 8"/>
          <p:cNvSpPr/>
          <p:nvPr/>
        </p:nvSpPr>
        <p:spPr>
          <a:xfrm>
            <a:off x="9040899" y="1554480"/>
            <a:ext cx="2602153" cy="1371600"/>
          </a:xfrm>
          <a:prstGeom prst="chevron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Route improver</a:t>
            </a:r>
          </a:p>
          <a:p>
            <a:pPr algn="ctr">
              <a:defRPr sz="1500" b="1">
                <a:solidFill>
                  <a:srgbClr val="FFFFFF"/>
                </a:solidFill>
              </a:defRPr>
            </a:pPr>
            <a:r>
              <a:t>(optional)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40899" y="3017520"/>
            <a:ext cx="260215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5A6A7A"/>
                </a:solidFill>
              </a:defRPr>
            </a:pPr>
            <a:r>
              <a:t>CLS · FTSP</a:t>
            </a:r>
          </a:p>
          <a:p>
            <a:pPr algn="ctr">
              <a:defRPr sz="1200">
                <a:solidFill>
                  <a:srgbClr val="5A6A7A"/>
                </a:solidFill>
              </a:defRPr>
            </a:pPr>
            <a:r>
              <a:t>post-optimisation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40" y="4023360"/>
            <a:ext cx="6522415" cy="731520"/>
          </a:xfrm>
          <a:prstGeom prst="round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Multi-day simulator: region × graph size × distribution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1206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1: </a:t>
            </a:r>
            <a:r>
              <a:rPr i="1" sz="1100">
                <a:solidFill>
                  <a:srgbClr val="5A6A7A"/>
                </a:solidFill>
              </a:rPr>
              <a:t>Every daily routing policy decomposes into a mandatory bin-selection strategy, a route constructor, an optional acceptance criterion and an optional route improver.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06440"/>
            <a:ext cx="1109441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Every daily routing policy is a composition of interchangeable stages, benchmarked under identical conditions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The simulator replays multi-day scenarios (region × graph size × waste distribution), logging overflows, kg, km, kg/km and profit for every policy combination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Mandatory Node Selection Strategies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2066543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1883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r>
                        <m:rPr>
                          <m:nor/>
                          <m:sty m:val="b"/>
                        </m:rPr>
                        <m:t>Look-Ahead (LA):</m:t>
                      </m:r>
                      <m:r>
                        <m:t> </m:t>
                      </m:r>
                      <m:r>
                        <m:t> 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δ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≥</m:t>
                      </m:r>
                      <m:r>
                        <m:t>100</m:t>
                      </m:r>
                      <m:r>
                        <m:rPr>
                          <m:sty m:val="p"/>
                        </m:rPr>
                        <m:t>%</m:t>
                      </m:r>
                      <m:r>
                        <m:t> 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 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o</m:t>
                      </m:r>
                      <m:r>
                        <m:rPr>
                          <m:sty m:val="p"/>
                        </m:rPr>
                        <m:t>l</m:t>
                      </m:r>
                      <m:r>
                        <m:rPr>
                          <m:sty m:val="p"/>
                        </m:rPr>
                        <m:t>l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 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o</m:t>
                      </m:r>
                      <m:r>
                        <m:rPr>
                          <m:sty m:val="p"/>
                        </m:rPr>
                        <m:t>d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y</m:t>
                      </m:r>
                      <m:r>
                        <m:rPr>
                          <m:sty m:val="p"/>
                        </m:rPr>
                        <m:t> 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o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v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1F2D3D"/>
                    </a:solidFill>
                  </a:rPr>
                  <a:t>Look-Ahead (LA): hatf_i(t + delta) geq 100% Rightarrow collect today (proactive)</a:t>
                </a:r>
              </mc:Fallback>
            </mc:AlternateContent>
          </a:p>
          <a:p>
            <a:pPr algn="ctr">
              <a:defRPr sz="20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r>
                        <m:rPr>
                          <m:nor/>
                          <m:sty m:val="b"/>
                        </m:rPr>
                        <m:t>Last-Minute (LM):</m:t>
                      </m:r>
                      <m:r>
                        <m:t> </m:t>
                      </m:r>
                      <m:r>
                        <m:t> </m:t>
                      </m:r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≥</m:t>
                      </m:r>
                      <m:r>
                        <m:t>C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r>
                        <m:t>C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70</m:t>
                      </m:r>
                      <m:r>
                        <m:rPr>
                          <m:sty m:val="p"/>
                        </m:rPr>
                        <m:t>%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 </m:t>
                      </m:r>
                      <m:r>
                        <m:t>90</m:t>
                      </m:r>
                      <m:r>
                        <m:rPr>
                          <m:sty m:val="p"/>
                        </m:rPr>
                        <m:t>%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t> 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v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1F2D3D"/>
                    </a:solidFill>
                  </a:rPr>
                  <a:t>Last-Minute (LM): f_i(t) geq CF, quad CF in 70%, 90% (reactive)</a:t>
                </a:r>
              </mc:Fallback>
            </mc:AlternateContent>
          </a:p>
          <a:p>
            <a:pPr algn="ctr">
              <a:defRPr sz="20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r>
                        <m:rPr>
                          <m:nor/>
                          <m:sty m:val="b"/>
                        </m:rPr>
                        <m:t>Service-Level (SL):</m:t>
                      </m:r>
                      <m:r>
                        <m:t> </m:t>
                      </m:r>
                      <m:r>
                        <m:t>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f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≥</m:t>
                          </m:r>
                          <m:r>
                            <m:t>100</m:t>
                          </m:r>
                          <m:r>
                            <m:rPr>
                              <m:sty m:val="p"/>
                            </m:rPr>
                            <m:t>%</m:t>
                          </m:r>
                        </m:e>
                      </m:d>
                      <m:r>
                        <m:rPr>
                          <m:sty m:val="p"/>
                        </m:rPr>
                        <m:t>≤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α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o</m:t>
                      </m:r>
                      <m:r>
                        <m:rPr>
                          <m:sty m:val="p"/>
                        </m:rPr>
                        <m:t>b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b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l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 </m:t>
                      </m:r>
                      <m:r>
                        <m:rPr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u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n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1F2D3D"/>
                    </a:solidFill>
                  </a:rPr>
                  <a:t>Service-Level (SL): P(f_i geq 100%) leq 1 - alpha quad (probabilistic guarantee)</a:t>
                </a:r>
              </mc:Fallback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548640" y="3392423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2: </a:t>
            </a:r>
            <a:r>
              <a:rPr i="1" sz="1100">
                <a:solidFill>
                  <a:srgbClr val="5A6A7A"/>
                </a:solidFill>
              </a:rPr>
              <a:t>The three mandatory selection rules — Look-Ahead (LA) forecasts fill level f_i at t+δ, Last-Minute (LM) reacts once f_i crosses a critical fill threshold CF, and Service-Level (SL) bounds each bin's overflow probability by a target confidence 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169663"/>
            <a:ext cx="11094415" cy="23225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Look-Ahead (LA) anticipates predicted overflows; Last-Minute (LM) waits for a critical fill threshold; Service-Level (SL) bounds each bin's overflow probability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Empirical trade-off: LM dominates efficiency (kg/km), SL dominates overflow prevention, LA sits in between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The choice spans the service-quality vs cost spectrum — an operational decision, not an algorithmic one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Big Picture: Policy Configuration Space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51560"/>
            <a:ext cx="3515258" cy="502920"/>
          </a:xfrm>
          <a:prstGeom prst="round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Mandatory Selection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3515258" cy="625449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Look-Ahead (LA)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426817"/>
            <a:ext cx="3515258" cy="625449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Last-Minute (LM, CF70)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61994"/>
            <a:ext cx="3515258" cy="625449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Last-Minute (LM, CF90)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897171"/>
            <a:ext cx="3515258" cy="625449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Service-Level (SL1)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632348"/>
            <a:ext cx="3515258" cy="625449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Service-Level (SL2)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218" y="1051560"/>
            <a:ext cx="3515258" cy="502920"/>
          </a:xfrm>
          <a:prstGeom prst="round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Route Constructor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8218" y="1691640"/>
            <a:ext cx="3515258" cy="1097280"/>
          </a:xfrm>
          <a:prstGeom prst="rect">
            <a:avLst/>
          </a:prstGeom>
          <a:noFill/>
          <a:ln w="12700">
            <a:solidFill>
              <a:srgbClr val="5A6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E74B5"/>
                </a:solidFill>
              </a:defRPr>
            </a:pPr>
            <a:r>
              <a:t>Exact Methods</a:t>
            </a:r>
          </a:p>
          <a:p>
            <a:pPr algn="ctr">
              <a:defRPr sz="1100">
                <a:solidFill>
                  <a:srgbClr val="1F2D3D"/>
                </a:solidFill>
              </a:defRPr>
            </a:pPr>
            <a:r>
              <a:t>BPC  ·  SWC-TCF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8218" y="2926080"/>
            <a:ext cx="3515258" cy="1097280"/>
          </a:xfrm>
          <a:prstGeom prst="rect">
            <a:avLst/>
          </a:prstGeom>
          <a:noFill/>
          <a:ln w="12700">
            <a:solidFill>
              <a:srgbClr val="5A6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E74B5"/>
                </a:solidFill>
              </a:defRPr>
            </a:pPr>
            <a:r>
              <a:t>Meta-Heuristics</a:t>
            </a:r>
          </a:p>
          <a:p>
            <a:pPr algn="ctr">
              <a:defRPr sz="1100">
                <a:solidFill>
                  <a:srgbClr val="1F2D3D"/>
                </a:solidFill>
              </a:defRPr>
            </a:pPr>
            <a:r>
              <a:t>HGS  ·  ALNS  ·  SANS  ·  PG-CLNS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4160520"/>
            <a:ext cx="3515258" cy="1097280"/>
          </a:xfrm>
          <a:prstGeom prst="rect">
            <a:avLst/>
          </a:prstGeom>
          <a:noFill/>
          <a:ln w="12700">
            <a:solidFill>
              <a:srgbClr val="5A6A7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2E74B5"/>
                </a:solidFill>
              </a:defRPr>
            </a:pPr>
            <a:r>
              <a:t>Hyper-Heuristics</a:t>
            </a:r>
          </a:p>
          <a:p>
            <a:pPr algn="ctr">
              <a:defRPr sz="1100">
                <a:solidFill>
                  <a:srgbClr val="1F2D3D"/>
                </a:solidFill>
              </a:defRPr>
            </a:pPr>
            <a:r>
              <a:t>PSOMA  ·  ACO-HH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7796" y="1051560"/>
            <a:ext cx="3515258" cy="502920"/>
          </a:xfrm>
          <a:prstGeom prst="round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Route Improver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91640"/>
            <a:ext cx="3515258" cy="1728216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Fast-TSP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7796" y="3529584"/>
            <a:ext cx="3515258" cy="1728216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Local Search (CLS)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3492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2: </a:t>
            </a:r>
            <a:r>
              <a:rPr i="1" sz="1100">
                <a:solidFill>
                  <a:srgbClr val="5A6A7A"/>
                </a:solidFill>
              </a:rPr>
              <a:t>Every simulated policy is one path through the three columns: a mandatory selection strategy, a route constructor (exact / meta-heuristic / hyper-heuristic) and an optional route improver.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89788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Mandatory selection × route constructor × route improver — every combination is run through the same multi-day simulator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Exact methods and meta-/hyper-heuristics are interchangeable route constructors under the identical selection and improvement stages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Exact Methods: BPC &amp; SWC-TCF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5730087" cy="932688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364327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r>
                        <m:rPr>
                          <m:sty m:val="p"/>
                        </m:rPr>
                        <m:t>min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r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rPr>
                              <m:sty m:val="p"/>
                            </m:rPr>
                            <m:t>Ω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r</m:t>
                              </m:r>
                            </m:sub>
                          </m:sSub>
                        </m:e>
                      </m:nary>
                      <m:r>
                        <m:t> </m:t>
                      </m:r>
                      <m:sSub>
                        <m:e>
                          <m:r>
                            <m:t>λ</m:t>
                          </m:r>
                        </m:e>
                        <m:sub>
                          <m:r>
                            <m:t>r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t> 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r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rPr>
                              <m:sty m:val="p"/>
                            </m:rPr>
                            <m:t>Ω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a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r</m:t>
                              </m:r>
                            </m:sub>
                          </m:sSub>
                        </m:e>
                      </m:nary>
                      <m:r>
                        <m:t> </m:t>
                      </m:r>
                      <m:sSub>
                        <m:e>
                          <m:r>
                            <m:t>λ</m:t>
                          </m:r>
                        </m:e>
                        <m:sub>
                          <m:r>
                            <m:t>r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t> </m:t>
                      </m:r>
                      <m:r>
                        <m:t> </m:t>
                      </m:r>
                      <m:r>
                        <m:rPr>
                          <m:sty m:val="p"/>
                        </m:rPr>
                        <m:t>∀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</m:t>
                      </m:r>
                      <m:sSub>
                        <m:e>
                          <m:r>
                            <m:t>λ</m:t>
                          </m:r>
                        </m:e>
                        <m:sub>
                          <m:r>
                            <m:t>r</m:t>
                          </m:r>
                        </m:sub>
                      </m:sSub>
                      <m:r>
                        <m:rPr>
                          <m:sty m:val="p"/>
                        </m:rPr>
                        <m:t>≥</m:t>
                      </m:r>
                      <m:r>
                        <m:t>0</m:t>
                      </m:r>
                    </m:oMath>
                  </m:oMathPara>
                </a14:m>
              </mc:Choice>
              <mc:Fallback>
                <a:r>
                  <a:rPr lang="en-US" sz="1500">
                    <a:solidFill>
                      <a:srgbClr val="1F2D3D"/>
                    </a:solidFill>
                  </a:rPr>
                  <a:t>min sum_r in Omega c_r, lambda_r quad s.t. quad sum_r in Omega a_ir, lambda_r = 1 forall i in V, quad lambda_r geq 0</a:t>
                </a:r>
              </mc:Fallback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548640" y="2258568"/>
            <a:ext cx="5730087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3: </a:t>
            </a:r>
            <a:r>
              <a:rPr i="1" sz="1100">
                <a:solidFill>
                  <a:srgbClr val="5A6A7A"/>
                </a:solidFill>
              </a:rPr>
              <a:t>Set-partitioning master problem: choose a minimum-cost combination of routes r ∈ Ω (weight λ_r) such that every node i is covered exactly once (a_ir = 1 iff route r visits i).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35808"/>
            <a:ext cx="5730087" cy="3456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Branch-Price-and-Cut (BPC): column generation over the route set Ω with cutting planes — proven optimality (BHV2000 lineage)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Pricing subproblem: elementary shortest path with resource constraints, accelerated by ng-route relaxation and limited-memory cuts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SWC-TCF: exact set-partitioning over Clarke-Wright-style savings columns with traffic-congestion-adjusted costs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Both provide optimality reference points; exponential worst-case runtime limits them to the daily subproblem sizes</a:t>
            </a:r>
          </a:p>
        </p:txBody>
      </p:sp>
      <p:pic>
        <p:nvPicPr>
          <p:cNvPr id="7" name="Picture 6" descr="constructor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7" y="2271037"/>
            <a:ext cx="5364327" cy="295600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Meta-Heuristics &amp; Hyper-Heuristics — Overarching Philosophy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11094415" cy="1499616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10728655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cr m:val="script"/>
                          <m:sty m:val="p"/>
                        </m:rPr>
                        <m:t>A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;</m:t>
                          </m:r>
                          <m:r>
                            <m:t> </m:t>
                          </m:r>
                          <m:sSub>
                            <m:e>
                              <m:r>
                                <m:t>θ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b>
                        <m:e>
                          <m:r>
                            <m:t>θ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cr m:val="script"/>
                          <m:sty m:val="p"/>
                        </m:rP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θ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 </m:t>
                          </m:r>
                          <m:r>
                            <m:rPr>
                              <m:sty m:val="p"/>
                            </m:rPr>
                            <m:t>f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d</m:t>
                          </m:r>
                          <m:r>
                            <m:rPr>
                              <m:sty m:val="p"/>
                            </m:rPr>
                            <m:t>b</m:t>
                          </m:r>
                          <m:r>
                            <m:rPr>
                              <m:sty m:val="p"/>
                            </m:rPr>
                            <m:t>a</m:t>
                          </m:r>
                          <m:r>
                            <m:rPr>
                              <m:sty m:val="p"/>
                            </m:rPr>
                            <m:t>c</m:t>
                          </m:r>
                          <m:r>
                            <m:rPr>
                              <m:sty m:val="p"/>
                            </m:rPr>
                            <m:t>k</m:t>
                          </m:r>
                        </m:e>
                      </m:d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1F2D3D"/>
                    </a:solidFill>
                  </a:rPr>
                  <a:t>x_t+1 = A(x_t; theta_t), qquad theta_t+1 = U(theta_t, feedback)</a:t>
                </a:r>
              </mc:Fallback>
            </mc:AlternateContent>
          </a:p>
          <a:p>
            <a:pPr algn="ctr">
              <a:defRPr sz="20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r>
                        <m:rPr>
                          <m:sty m:val="b"/>
                        </m:rPr>
                        <m:t>H</m:t>
                      </m:r>
                      <m:r>
                        <m:rPr>
                          <m:sty m:val="b"/>
                        </m:rPr>
                        <m:t>y</m:t>
                      </m:r>
                      <m:r>
                        <m:rPr>
                          <m:sty m:val="b"/>
                        </m:rPr>
                        <m:t>p</m:t>
                      </m:r>
                      <m:r>
                        <m:rPr>
                          <m:sty m:val="b"/>
                        </m:rPr>
                        <m:t>e</m:t>
                      </m:r>
                      <m:r>
                        <m:rPr>
                          <m:sty m:val="b"/>
                        </m:rPr>
                        <m:t>r</m:t>
                      </m:r>
                      <m:r>
                        <m:rPr>
                          <m:sty m:val="b"/>
                        </m:rPr>
                        <m:t>:</m:t>
                      </m:r>
                      <m:r>
                        <m:t> </m:t>
                      </m:r>
                      <m:r>
                        <m:t> </m:t>
                      </m:r>
                      <m:sSubSup>
                        <m:e>
                          <m:r>
                            <m:t>h</m:t>
                          </m:r>
                        </m:e>
                        <m:sub>
                          <m:r>
                            <m:t>t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h</m:t>
                          </m:r>
                          <m:r>
                            <m:rPr>
                              <m:sty m:val="p"/>
                            </m:rPr>
                            <m:t>∈</m:t>
                          </m:r>
                          <m:r>
                            <m:t>H</m:t>
                          </m:r>
                        </m:lim>
                      </m:limLow>
                      <m:r>
                        <m:t> </m:t>
                      </m:r>
                      <m:sSub>
                        <m:e>
                          <m:r>
                            <m:t>Q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 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h</m:t>
                      </m:r>
                      <m:r>
                        <m:rPr>
                          <m:sty m:val="p"/>
                        </m:rPr>
                        <m:t> </m:t>
                      </m:r>
                      <m:r>
                        <m:rPr>
                          <m:sty m:val="p"/>
                        </m:rPr>
                        <m:t>o</m:t>
                      </m:r>
                      <m:r>
                        <m:rPr>
                          <m:sty m:val="p"/>
                        </m:rPr>
                        <m:t>v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 </m:t>
                      </m:r>
                      <m:r>
                        <m:rPr>
                          <m:sty m:val="p"/>
                        </m:rPr>
                        <m:t>h</m:t>
                      </m:r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u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t</m:t>
                      </m:r>
                      <m:r>
                        <m:rPr>
                          <m:sty m:val="p"/>
                        </m:rPr>
                        <m:t>i</m:t>
                      </m:r>
                      <m:r>
                        <m:rPr>
                          <m:sty m:val="p"/>
                        </m:rPr>
                        <m:t>c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mc:Choice>
              <mc:Fallback>
                <a:r>
                  <a:rPr lang="en-US" sz="2000">
                    <a:solidFill>
                      <a:srgbClr val="1F2D3D"/>
                    </a:solidFill>
                  </a:rPr>
                  <a:t>Hyper: h^*_t = argmax_h in H Q_t(h) quad (search over heuristics)</a:t>
                </a:r>
              </mc:Fallback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548640" y="2825496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4: </a:t>
            </a:r>
            <a:r>
              <a:rPr i="1" sz="1100">
                <a:solidFill>
                  <a:srgbClr val="5A6A7A"/>
                </a:solidFill>
              </a:rPr>
              <a:t>A meta-heuristic maps the incumbent x_t to a new candidate via operator A parameterised by θ_t, updated from feedback; a hyper-heuristic instead searches over low-level heuristics h ∈ H, picking the one with highest estimated value Q_t(h) at each step.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02736"/>
            <a:ext cx="11094415" cy="2889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Heuristic search trades a small optimality gap for polynomial runtime — essential beyond the exact methods' size limits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Evolutionary — HGS: population-based, ordered crossover + aggressive local search, biased fitness balances quality and diversity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Swarm intelligence — PSOMA: particle swarm + memetic refinement (best-overflow performer); ACO-HH: pheromones over low-level heuristics, most robust all-rounder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Trajectory-based — SANS: simulated annealing accepts worsening moves under a cooling schedule; PG-CLNS: destroy-and-repair LNS whose operator choice is learned via policy gradients</a:t>
            </a:r>
          </a:p>
          <a:p>
            <a:pPr>
              <a:spcAft>
                <a:spcPts val="1000"/>
              </a:spcAft>
              <a:defRPr sz="1400">
                <a:solidFill>
                  <a:srgbClr val="1F2D3D"/>
                </a:solidFill>
              </a:defRPr>
            </a:pPr>
            <a:r>
              <a:t>•  Three families, one shared interface: each plugs into the pipeline as an interchangeable route constructor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Route Improvers: Classical Local Search vs Fast-TSP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43000"/>
            <a:ext cx="5730087" cy="1499616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364327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r>
                        <m:rPr>
                          <m:sty m:val="b"/>
                        </m:rPr>
                        <m:t>2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sty m:val="b"/>
                        </m:rPr>
                        <m:t>o</m:t>
                      </m:r>
                      <m:r>
                        <m:rPr>
                          <m:sty m:val="b"/>
                        </m:rPr>
                        <m:t>p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:</m:t>
                      </m:r>
                      <m:r>
                        <m:t> </m:t>
                      </m:r>
                      <m:r>
                        <m:t> </m:t>
                      </m:r>
                      <m:r>
                        <m:rPr>
                          <m:sty m:val="p"/>
                        </m:rPr>
                        <m:t>Δ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d</m:t>
                          </m:r>
                        </m:e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d</m:t>
                          </m:r>
                        </m:e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d</m:t>
                          </m:r>
                        </m:e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r>
                            <m:t>d</m:t>
                          </m:r>
                        </m:e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&lt;</m:t>
                      </m:r>
                      <m:r>
                        <m:t>0</m:t>
                      </m:r>
                      <m:r>
                        <m:t> 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 </m:t>
                      </m:r>
                      <m:r>
                        <m:rPr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l</m:t>
                      </m:r>
                      <m:r>
                        <m:rPr>
                          <m:sty m:val="p"/>
                        </m:rPr>
                        <m:t>y</m:t>
                      </m:r>
                    </m:oMath>
                  </m:oMathPara>
                </a14:m>
              </mc:Choice>
              <mc:Fallback>
                <a:r>
                  <a:rPr lang="en-US" sz="1500">
                    <a:solidFill>
                      <a:srgbClr val="1F2D3D"/>
                    </a:solidFill>
                  </a:rPr>
                  <a:t>2-opt: Delta = d_i,i+1 + d_j,j+1 - d_i,j - d_i+1,j+1 &lt; 0 Rightarrow apply</a:t>
                </a:r>
              </mc:Fallback>
            </mc:AlternateContent>
          </a:p>
          <a:p>
            <a:pPr algn="ctr">
              <a:defRPr sz="1500">
                <a:solidFill>
                  <a:srgbClr val="1F2D3D"/>
                </a:solidFill>
              </a:defRPr>
            </a:pPr>
            <mc:AlternateContent xmlns:mc="http://schemas.openxmlformats.org/markup-compatibility/2006" xmlns:a14="http://schemas.microsoft.com/office/drawing/2010/main" xmlns:m="http://schemas.openxmlformats.org/officeDocument/2006/math">
              <mc:Choice Requires="a14">
                <a14:m>
                  <m:oMathPara>
                    <m:oMath xmlns:w="http://schemas.openxmlformats.org/wordprocessingml/2006/main" xmlns:o="urn:schemas-microsoft-com:office:office" xmlns:v="urn:schemas-microsoft-com:vml" xmlns:w10="urn:schemas-microsoft-com:office:word" xmlns:pic="http://schemas.openxmlformats.org/drawingml/2006/picture" xmlns:wp="http://schemas.openxmlformats.org/drawingml/2006/wordprocessingDrawing">
                      <m:r>
                        <m:rPr>
                          <m:sty m:val="b"/>
                        </m:rPr>
                        <m:t>F</m:t>
                      </m:r>
                      <m:r>
                        <m:rPr>
                          <m:sty m:val="b"/>
                        </m:rPr>
                        <m:t>T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b"/>
                        </m:rPr>
                        <m:t>P</m:t>
                      </m:r>
                      <m:r>
                        <m:rPr>
                          <m:sty m:val="b"/>
                        </m:rPr>
                        <m:t>:</m:t>
                      </m:r>
                      <m:r>
                        <m:t> </m:t>
                      </m:r>
                      <m:r>
                        <m:t> 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min</m:t>
                          </m:r>
                        </m:e>
                        <m:lim>
                          <m:r>
                            <m:t>π</m:t>
                          </m:r>
                        </m:lim>
                      </m:limLow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k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d</m:t>
                              </m:r>
                            </m:e>
                            <m:sub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π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k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sub>
                          </m:sSub>
                        </m:e>
                      </m:nary>
                      <m:r>
                        <m:t> 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L</m:t>
                      </m:r>
                      <m:r>
                        <m:rPr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 </m:t>
                      </m:r>
                      <m:r>
                        <m:rPr>
                          <m:sty m:val="p"/>
                        </m:rPr>
                        <m:t>f</m:t>
                      </m:r>
                      <m:r>
                        <m:rPr>
                          <m:sty m:val="p"/>
                        </m:rPr>
                        <m:t>o</m:t>
                      </m:r>
                      <m:r>
                        <m:rPr>
                          <m:sty m:val="p"/>
                        </m:rPr>
                        <m:t>r</m:t>
                      </m:r>
                      <m:r>
                        <m:t> 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&gt;</m:t>
                      </m:r>
                      <m:r>
                        <m:t>20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mc:Choice>
              <mc:Fallback>
                <a:r>
                  <a:rPr lang="en-US" sz="1500">
                    <a:solidFill>
                      <a:srgbClr val="1F2D3D"/>
                    </a:solidFill>
                  </a:rPr>
                  <a:t>FTSP: min_pi sum_k d_pi(k), pi(k+1) quad (SLS for N &gt; 20)</a:t>
                </a:r>
              </mc:Fallback>
            </mc:AlternateContent>
          </a:p>
        </p:txBody>
      </p:sp>
      <p:sp>
        <p:nvSpPr>
          <p:cNvPr id="5" name="TextBox 4"/>
          <p:cNvSpPr txBox="1"/>
          <p:nvPr/>
        </p:nvSpPr>
        <p:spPr>
          <a:xfrm>
            <a:off x="548640" y="2825496"/>
            <a:ext cx="5730087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Equation 5: </a:t>
            </a:r>
            <a:r>
              <a:rPr i="1" sz="1100">
                <a:solidFill>
                  <a:srgbClr val="5A6A7A"/>
                </a:solidFill>
              </a:rPr>
              <a:t>2-opt accepts an edge swap whenever the resulting distance change Δ is negative. Fast-TSP reorders each route's visiting sequence π to minimise total distance — solved exactly for small routes and via Stochastic Local Search (SLS) once N exceeds 20 stops.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02736"/>
            <a:ext cx="5730087" cy="2889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Optional, constructor-agnostic post-optimisation of each constructed route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CLS: exhaustive intra/inter-route neighbourhoods (2-opt, or-opt, swap, relocate) to a local optimum — best kg/km polish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Fast-TSP: reorders each route as a TSP — exact for small routes, Stochastic Local Search (SLS) under the hood for graphs with more than 20 nodes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Improver choice is a second-order effect: selection strategy and constructor dominate the KPI outcomes</a:t>
            </a:r>
          </a:p>
        </p:txBody>
      </p:sp>
      <p:pic>
        <p:nvPicPr>
          <p:cNvPr id="7" name="Picture 6" descr="improver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7" y="2761474"/>
            <a:ext cx="5364327" cy="197513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Design of Experiments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90007" y="1143000"/>
            <a:ext cx="2011680" cy="457200"/>
          </a:xfrm>
          <a:prstGeom prst="roundRect">
            <a:avLst/>
          </a:prstGeom>
          <a:solidFill>
            <a:srgbClr val="1F2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Simulation Runs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5364327" cy="548640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30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743200"/>
            <a:ext cx="1696669" cy="457200"/>
          </a:xfrm>
          <a:prstGeom prst="rect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RM-100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169666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F2D3D"/>
                </a:solidFill>
              </a:defRPr>
            </a:pPr>
            <a:r>
              <a:t>Empirical / Gamma-3</a:t>
            </a:r>
          </a:p>
        </p:txBody>
      </p:sp>
      <p:sp>
        <p:nvSpPr>
          <p:cNvPr id="7" name="Rectangle 6"/>
          <p:cNvSpPr/>
          <p:nvPr/>
        </p:nvSpPr>
        <p:spPr>
          <a:xfrm>
            <a:off x="2382469" y="2743200"/>
            <a:ext cx="1696669" cy="457200"/>
          </a:xfrm>
          <a:prstGeom prst="rect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RM-170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82469" y="3291840"/>
            <a:ext cx="169666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F2D3D"/>
                </a:solidFill>
              </a:defRPr>
            </a:pPr>
            <a:r>
              <a:t>Empirical / Gamma-3</a:t>
            </a:r>
          </a:p>
        </p:txBody>
      </p:sp>
      <p:sp>
        <p:nvSpPr>
          <p:cNvPr id="9" name="Rectangle 8"/>
          <p:cNvSpPr/>
          <p:nvPr/>
        </p:nvSpPr>
        <p:spPr>
          <a:xfrm>
            <a:off x="4216298" y="2743200"/>
            <a:ext cx="1696669" cy="457200"/>
          </a:xfrm>
          <a:prstGeom prst="rect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FFZ-350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16298" y="3291840"/>
            <a:ext cx="169666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F2D3D"/>
                </a:solidFill>
              </a:defRPr>
            </a:pPr>
            <a:r>
              <a:t>Empirical / Gamma-3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920240"/>
            <a:ext cx="5364327" cy="548640"/>
          </a:xfrm>
          <a:prstGeom prst="roundRect">
            <a:avLst/>
          </a:prstGeom>
          <a:solidFill>
            <a:srgbClr val="2E7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90 Days</a:t>
            </a:r>
          </a:p>
          <a:p>
            <a:pPr algn="ctr">
              <a:defRPr sz="1300" b="1">
                <a:solidFill>
                  <a:srgbClr val="FFFFFF"/>
                </a:solidFill>
              </a:defRPr>
            </a:pPr>
            <a:r>
              <a:t>(Pareto-front policies 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78727" y="2743200"/>
            <a:ext cx="1696669" cy="457200"/>
          </a:xfrm>
          <a:prstGeom prst="rect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RM-100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3291840"/>
            <a:ext cx="169666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F2D3D"/>
                </a:solidFill>
              </a:defRPr>
            </a:pPr>
            <a:r>
              <a:t>Empirical / Gamma-3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12556" y="2743200"/>
            <a:ext cx="1696669" cy="457200"/>
          </a:xfrm>
          <a:prstGeom prst="rect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RM-170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2556" y="3291840"/>
            <a:ext cx="169666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F2D3D"/>
                </a:solidFill>
              </a:defRPr>
            </a:pPr>
            <a:r>
              <a:t>Empirical / Gamma-3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46385" y="2743200"/>
            <a:ext cx="1696669" cy="457200"/>
          </a:xfrm>
          <a:prstGeom prst="rect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FFZ-350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46385" y="3291840"/>
            <a:ext cx="169666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1F2D3D"/>
                </a:solidFill>
              </a:defRPr>
            </a:pPr>
            <a:r>
              <a:t>Empirical / Gamma-3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492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3: </a:t>
            </a:r>
            <a:r>
              <a:rPr i="1" sz="1100">
                <a:solidFill>
                  <a:srgbClr val="5A6A7A"/>
                </a:solidFill>
              </a:rPr>
              <a:t>Every scenario (region × graph size × waste distribution) is simulated for both the 30-day and the 90-day horizon; the 90-day runs are restricted to the 30-day Pareto-front policies.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89788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Regions/graph sizes: RM-100, RM-170 (Rio Maior), FFZ-350 (Figueira da Foz) — two waste distributions each: Empirical and Gamma-3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5 mandatory selection variants × 8 route constructors × up to 2 improvers, replicated at 30 and 90 days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Pareto Front (Overflows vs kg/km)</a:t>
            </a:r>
          </a:p>
        </p:txBody>
      </p:sp>
      <p:pic>
        <p:nvPicPr>
          <p:cNvPr id="3" name="Picture 2" descr="pareto_scatter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48266"/>
            <a:ext cx="11460175" cy="432722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4: </a:t>
            </a:r>
            <a:r>
              <a:rPr i="1" sz="1100">
                <a:solidFill>
                  <a:srgbClr val="5A6A7A"/>
                </a:solidFill>
              </a:rPr>
              <a:t>Symlog X axis (overflows). Colour = selection variant, shape = scenario, dashed lines = Pareto fronts (one colour per scenario).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Summary KPI Analysis by Selection Strategy</a:t>
            </a:r>
          </a:p>
        </p:txBody>
      </p:sp>
      <p:pic>
        <p:nvPicPr>
          <p:cNvPr id="3" name="Picture 2" descr="overflow_by_config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391" y="1051560"/>
            <a:ext cx="8068912" cy="2468880"/>
          </a:xfrm>
          <a:prstGeom prst="rect">
            <a:avLst/>
          </a:prstGeom>
        </p:spPr>
      </p:pic>
      <p:pic>
        <p:nvPicPr>
          <p:cNvPr id="4" name="Picture 3" descr="kgkm_by_conf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9139" y="3611880"/>
            <a:ext cx="8073417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5: </a:t>
            </a:r>
            <a:r>
              <a:rPr i="1" sz="1100">
                <a:solidFill>
                  <a:srgbClr val="5A6A7A"/>
                </a:solidFill>
              </a:rPr>
              <a:t>Mean ± min/max range across route constructors; colours discriminate the mandatory selection strategies.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Strategy Trade-off (Overflows vs kg/km)</a:t>
            </a:r>
          </a:p>
        </p:txBody>
      </p:sp>
      <p:pic>
        <p:nvPicPr>
          <p:cNvPr id="3" name="Picture 2" descr="strategy_bubble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99922"/>
            <a:ext cx="11460175" cy="48239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6: </a:t>
            </a:r>
            <a:r>
              <a:rPr i="1" sz="1100">
                <a:solidFill>
                  <a:srgbClr val="5A6A7A"/>
                </a:solidFill>
              </a:rPr>
              <a:t>Each bubble = (selection strategy, scenario) averaged over constructors and improvers — coloured by mandatory selection strategy (LA/LM/SL).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Per-Scenario Heatmaps (Constructors × Strategy·Improver)</a:t>
            </a:r>
          </a:p>
        </p:txBody>
      </p:sp>
      <p:pic>
        <p:nvPicPr>
          <p:cNvPr id="3" name="Picture 2" descr="scenario_constructo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26724"/>
            <a:ext cx="8442655" cy="4770311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9082735" y="1051560"/>
            <a:ext cx="2834640" cy="5120640"/>
          </a:xfrm>
          <a:prstGeom prst="roundRect">
            <a:avLst/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65615" y="1188720"/>
            <a:ext cx="2468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2E74B5"/>
                </a:solidFill>
              </a:defRPr>
            </a:pPr>
            <a:r>
              <a:t>Shared axis labels</a:t>
            </a:r>
          </a:p>
          <a:p>
            <a:pPr>
              <a:spcBef>
                <a:spcPts val="1000"/>
              </a:spcBef>
              <a:defRPr sz="1200">
                <a:solidFill>
                  <a:srgbClr val="1F2D3D"/>
                </a:solidFill>
              </a:defRPr>
            </a:pPr>
            <a:r>
              <a:t>Rows (all 12 panels): route constructor — ACO_HH, ALNS, BPC, HGS, PG-CLNS, PSOMA, SANS, SWC-TCF.</a:t>
            </a:r>
          </a:p>
          <a:p>
            <a:pPr>
              <a:spcBef>
                <a:spcPts val="1000"/>
              </a:spcBef>
              <a:defRPr sz="1200">
                <a:solidFill>
                  <a:srgbClr val="1F2D3D"/>
                </a:solidFill>
              </a:defRPr>
            </a:pPr>
            <a:r>
              <a:t>Columns (all 12 panels): mandatory selection strategy × route improver — LA/LM/SL × FTSP/CLS.</a:t>
            </a:r>
          </a:p>
          <a:p>
            <a:pPr>
              <a:spcBef>
                <a:spcPts val="1000"/>
              </a:spcBef>
              <a:defRPr sz="1200">
                <a:solidFill>
                  <a:srgbClr val="1F2D3D"/>
                </a:solidFill>
              </a:defRPr>
            </a:pPr>
            <a:r>
              <a:t>Axis tick labels are shown once here rather than repeated in tiny print on every one of the 6 scenario panels.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7: </a:t>
            </a:r>
            <a:r>
              <a:rPr i="1" sz="1100">
                <a:solidFill>
                  <a:srgbClr val="5A6A7A"/>
                </a:solidFill>
              </a:rPr>
              <a:t>30-day runs. One panel per scenario; route constructors on the rows, selection × improver combinations on the columns.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Overflow &amp; kg/km Heatmaps, 90 Days (Policies × Scenarios)</a:t>
            </a:r>
          </a:p>
        </p:txBody>
      </p:sp>
      <p:pic>
        <p:nvPicPr>
          <p:cNvPr id="3" name="Picture 2" descr="policy_scenario_heatmap_overfl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188" y="1051560"/>
            <a:ext cx="4564911" cy="5120640"/>
          </a:xfrm>
          <a:prstGeom prst="rect">
            <a:avLst/>
          </a:prstGeom>
        </p:spPr>
      </p:pic>
      <p:pic>
        <p:nvPicPr>
          <p:cNvPr id="4" name="Picture 3" descr="policy_scenario_heatmap_kgk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7269" y="1051560"/>
            <a:ext cx="4535802" cy="5120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8: </a:t>
            </a:r>
            <a:r>
              <a:rPr i="1" sz="1100">
                <a:solidFill>
                  <a:srgbClr val="5A6A7A"/>
                </a:solidFill>
              </a:rPr>
              <a:t>90-day runs (Pareto-front policies only — fewer rows, easier to read). Rows = policy configurations; columns = scenarios.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Route Improver Comparison</a:t>
            </a:r>
          </a:p>
        </p:txBody>
      </p:sp>
      <p:pic>
        <p:nvPicPr>
          <p:cNvPr id="3" name="Picture 2" descr="improver_bubble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99110"/>
            <a:ext cx="11460175" cy="48255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9: </a:t>
            </a:r>
            <a:r>
              <a:rPr i="1" sz="1100">
                <a:solidFill>
                  <a:srgbClr val="5A6A7A"/>
                </a:solidFill>
              </a:rPr>
              <a:t>Each bubble = (improver, scenario) averaged over strategies and constructors — FTSP vs CLS contrasted directly.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Results — Full Table (30-Day Horizon)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51560"/>
            <a:ext cx="114601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2E74B5"/>
                </a:solidFill>
              </a:defRPr>
            </a:pPr>
            <a:r>
              <a:t>Improver: FTSP</a:t>
            </a:r>
          </a:p>
        </p:txBody>
      </p:sp>
      <p:pic>
        <p:nvPicPr>
          <p:cNvPr id="4" name="Picture 3" descr="full_results_table_improver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79833"/>
            <a:ext cx="11643055" cy="16775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3520440"/>
            <a:ext cx="1146017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2E74B5"/>
                </a:solidFill>
              </a:defRPr>
            </a:pPr>
            <a:r>
              <a:t>Improver: CLS</a:t>
            </a:r>
          </a:p>
        </p:txBody>
      </p:sp>
      <p:pic>
        <p:nvPicPr>
          <p:cNvPr id="6" name="Picture 5" descr="full_results_table_improver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048713"/>
            <a:ext cx="11643055" cy="167750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3550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Table 1: </a:t>
            </a:r>
            <a:r>
              <a:rPr i="1" sz="1100">
                <a:solidFill>
                  <a:srgbClr val="5A6A7A"/>
                </a:solidFill>
              </a:rPr>
              <a:t>Full results table — rows: graph size × region × data distribution; columns: partitioned by route improver (FTSP, CLS), one partial table per value; each partial table then grouped by mandatory selection strategy × route constructor. In every cell, the top value is mean±std overflows (lower is better) and the bottom value is mean±std kg/km (higher is better); the best value per row is shown in bold green.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Conclusions, Limitations &amp; Future Work</a:t>
            </a:r>
          </a:p>
        </p:txBody>
      </p:sp>
      <p:pic>
        <p:nvPicPr>
          <p:cNvPr id="3" name="Picture 2" descr="policy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47" y="1308863"/>
            <a:ext cx="5730087" cy="488035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35508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100">
                <a:solidFill>
                  <a:srgbClr val="1F2D3D"/>
                </a:solidFill>
              </a:rPr>
              <a:t>Figure 10: </a:t>
            </a:r>
            <a:r>
              <a:rPr i="1" sz="1100">
                <a:solidFill>
                  <a:srgbClr val="5A6A7A"/>
                </a:solidFill>
              </a:rPr>
              <a:t>Overlaid radar chart comparing key route constructors across overflow, efficiency, distance and profit axes — outer position indicates better performance on that axis.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55767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The selection strategy dominates the overflow/efficiency trade-off: SL prevents overflows (SL2 + ACO_HH reached 0 at FFZ-350), LM (CF90) maximises kg/km (~12), LA balances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BPC and PG-CLNS are the most frequent Pareto-front constructors; ACO-HH is the most robust across scenarios and horizons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Patterns are stable from 30 to 90 days; overflow pressure grows with the horizon while kg/km stays consistent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Limitations: single vehicle type/depot per region; waste models calibrated on limited data; 90-day runs only cover the 30-day Pareto-front policies</a:t>
            </a:r>
          </a:p>
          <a:p>
            <a:pPr>
              <a:spcAft>
                <a:spcPts val="1000"/>
              </a:spcAft>
              <a:defRPr sz="1300">
                <a:solidFill>
                  <a:srgbClr val="1F2D3D"/>
                </a:solidFill>
              </a:defRPr>
            </a:pPr>
            <a:r>
              <a:t>•  Future work: richer acceptance criteria, neural constructors (e.g. Attention Model) in the same pipeline, multi-vehicle fleets, intra-day re-routing, CO₂-aware objectives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5090007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Thank You — Questions &amp; Answers</a:t>
            </a:r>
          </a:p>
          <a:p>
            <a:pPr algn="l">
              <a:defRPr sz="1600">
                <a:solidFill>
                  <a:srgbClr val="C9D6E4"/>
                </a:solidFill>
              </a:defRPr>
            </a:pPr>
            <a:r>
              <a:t>Thank you for your attention!</a:t>
            </a:r>
          </a:p>
          <a:p>
            <a:pPr algn="l">
              <a:defRPr sz="1600">
                <a:solidFill>
                  <a:srgbClr val="C9D6E4"/>
                </a:solidFill>
              </a:defRPr>
            </a:pPr>
            <a:r>
              <a:t>Time for questions</a:t>
            </a:r>
          </a:p>
        </p:txBody>
      </p:sp>
      <p:pic>
        <p:nvPicPr>
          <p:cNvPr id="4" name="Picture 3" descr="policy_radar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7" y="1216397"/>
            <a:ext cx="5364327" cy="442520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