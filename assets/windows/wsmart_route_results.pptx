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7315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WSmart+ Route — Adaptive Routing Policies for Smart Waste Collection</a:t>
            </a:r>
          </a:p>
          <a:p>
            <a:pPr>
              <a:defRPr sz="2000">
                <a:solidFill>
                  <a:srgbClr val="C9D6E4"/>
                </a:solidFill>
              </a:defRPr>
            </a:pPr>
            <a:r>
              <a:t>Simulation Study of Selection Strategies, Route Constructors and Improvers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Afonso Fernandes</a:t>
            </a:r>
          </a:p>
          <a:p>
            <a:pPr>
              <a:defRPr sz="1400">
                <a:solidFill>
                  <a:srgbClr val="C9D6E4"/>
                </a:solidFill>
              </a:defRPr>
            </a:pPr>
            <a:r>
              <a:t>06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1.  The Vehicle Routing Problem with Profits (VRPP)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2.  Routing Simulator Philosophy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3.  Mandatory Node Selection Strategies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4.  Exact Solvers: BPC &amp; SWC-TCF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5.  Meta-Heuristics &amp; Hyper-Heuristics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6.  Evolutionary Algorithms: HGS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7.  Swarm Intelligence: PSOMA &amp; ACO-HH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8.  Neighborhood Search: SANS &amp; PG-CLNS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9.  Route Improvers: Classical Local Search vs Fast-TSP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10.  Results — Pareto Front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11.  Results — Summary KPI Analysis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12.  Results — Policy × Scenario Heatmaps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13.  Results — Per-Scenario Heatmaps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14.  Results — Route Improver Comparison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15.  Conclusions, Limitations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Problem: Vehicle Routing Problem with Profits (VRPP)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Classical VRP visits every customer; VRPP relaxes this — each node carries a profit and only a profitable subset is visited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Objective: maximise collected profit (waste kg) minus travel cost (km), subject to vehicle capacity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In waste collection: bins fill stochastically day by day — skipping a bin saves distance but risks overflow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Two conflicting KPIs: number of bin overflows (service quality, ↓) and kg/km route efficiency (cost, ↑)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Multi-day, stochastic setting: today's collection decisions shape tomorrow's fill levels — a sequential decision problem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Studied scenarios: Rio Maior (N=100, 170) and Figueira da Foz (N=350), with Empirical and Gamma-3 waste generation over 30- and 90-day horizons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Routing Simulator Philosophy — Modular Policy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Every daily routing policy is decomposed into interchangeable stages, benchmarked under identical conditions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1) Mandatory bin selection strategy — decides WHICH bins must be collected today (look-ahead, last-minute, service-level)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2) Route constructor — builds the routes over the selected bins (exact solver, meta-heuristic or hyper-heuristic)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3) Optional acceptance criterion — constructor-dependent rule deciding which candidate solutions are accepted (e.g. BMC, OI)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4) Optional route improver — post-optimisation of the constructed routes (CLS or FTSP)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The simulator replays multi-day scenarios (region × graph size × waste distribution), logging overflows, kg, km, kg/km and profit for every policy combination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Mandatory Node Selection Strategies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Look-Ahead (LA) — anticipates future fill levels: collects bins predicted to overflow before the next visit opportunity; proactive but can over-collect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Last-Minute (LM) — reactive: only collects bins whose fill exceeds a critical threshold (CF70 = 70%, CF90 = 90%); maximises kg per visit but risks overflows between visits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Service-Level (SL) — probabilistic guarantee: keeps each bin's overflow probability below a target (SL1, SL2 variants); most conservative, lowest overflows at the price of more km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Empirical trade-off: LM dominates efficiency (kg/km), SL dominates overflow prevention, LA sits in between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The three strategies span the full service-quality vs cost spectrum — the choice is an operational decision, not an algorithmic 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Exact Solvers: BPC &amp; SWC-TCF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Branch-Price-and-Cut (BPC) — column-generation over route variables with cutting planes; solves the daily VRPP to proven optimality (BHV2000 lineage)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Pricing subproblem: elementary shortest path with resource constraints, accelerated by ng-route relaxation and limited-memory cuts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Strongest kg/km results across scenarios — but exponential worst-case runtime limits it to the daily subproblem sizes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SWC-TCF — Savings-based Waste Collection with Traffic-Congestion Factors: exact set-partitioning formulation over Clarke-Wright-style savings columns with congestion-adjusted costs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Both provide optimality reference points against which the (meta-)heuristics are benchmarked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Meta-Heuristics &amp; Hyper-Heuristics — Overarching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Exact methods guarantee optimality but scale exponentially; heuristics trade a small optimality gap for polynomial runtime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Meta-heuristics: problem-independent search frameworks (evolution, swarms, neighborhood search) guiding problem-specific operators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Balance two forces: exploration (diversify — escape local optima) and exploitation (intensify — polish good solutions)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Hyper-heuristics go one level up: they search the space of heuristics, learning WHICH low-level operator to apply next (e.g. ACO-HH)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Three families studied: evolutionary (HGS), swarm intelligence (PSOMA, ACO-HH) and neighborhood search (SANS, PG-CLNS)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Evolutionary Algorithms — HGS (Hybrid Genetic Search)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Population-based: solutions are individuals; parents recombine via ordered crossover to produce offspring routes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Hybrid = genetic search + aggressive local-search education of every offspring (swap, relocate, 2-opt neighbourhoods)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Biased fitness combines solution quality with population diversity contribution — prevents premature convergence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Infeasible individuals are kept in a separate sub-population with penalised fitness, letting the search cross infeasible regions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State-of-the-art on classical CVRP; in our study its education phase makes it a strong efficiency performer with the CLS improver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Swarm Intelligence — PSOMA &amp; ACO-HH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Swarm intelligence: many simple agents share information; global order emerges from local interactions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PSOMA — Particle Swarm Optimisation with Memetic Algorithm: particles fly through the solution space attracted by personal and global bests, then a memetic local-search phase refines each particle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PSOMA excels at overflow prevention in the empirical scenarios (consistent best-overflow performer for LM/SL)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ACO-HH — Ant Colony Optimisation as a Hyper-Heuristic: pheromone trails are laid over low-level heuristics rather than arcs — the colony learns the best sequence of constructive operators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ACO-HH is the most consistent all-rounder: Pareto-optimal in multiple scenarios (e.g. zero-overflow SL2 configurations at FFZ-350)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Neighborhood Search — SANS &amp; PG-CLNS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Trajectory-based search: iteratively perturb the incumbent solution through neighbourhood moves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SANS — Simulated Annealing Neighborhood Search: accepts worsening moves with probability e^(−Δ/T); the cooling schedule shifts the search from exploration to exploitation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PG-CLNS — Policy-Gradient-guided Contextual Large Neighborhood Search: destroy-and-repair moves whose operator selection is learned online via policy-gradient reinforcement learning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The learned destroy/repair policy adapts to the instance context (fill levels, geography) instead of using fixed operator weights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PG-CLNS is a standout overflow performer: SL1 + PG-CLNS reaches the Pareto front in several scenarios with as little as ~1 overflow / 30 days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Route Improvers: Classical Local Search vs Fast-TSP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Route improvers post-optimise each constructed route; they are optional and constructor-agnostic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Classical Local Search (CLS) — exhaustive intra/inter-route neighbourhoods (2-opt, or-opt, swap, relocate) until a local optimum: best kg/km polish, higher runtime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Fast-TSP (FTSP) — reorders each route as a TSP; exact for small routes, and for graphs with more than 20 nodes it switches to Stochastic Local Search (SLS) under the hood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Empirical pattern: CLS yields higher kg/km efficiency; FTSP is cheaper and occasionally prevents more overflows by preserving route slack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Improver choice is a second-order effect — selection strategy and constructor dominate the KPI outcomes, so improvers are contrasted separately rather than in every chart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Pareto Front (Overflows vs kg/km)</a:t>
            </a:r>
          </a:p>
        </p:txBody>
      </p:sp>
      <p:pic>
        <p:nvPicPr>
          <p:cNvPr id="3" name="Picture 2" descr="pareto_scatter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1743"/>
            <a:ext cx="11460175" cy="42574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A7A"/>
                </a:solidFill>
              </a:defRPr>
            </a:pPr>
            <a:r>
              <a:t>Symlog X axis (overflows). Colour = selection variant, shape = scenario, dashed line = per-scenario Pareto front.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Summary KPI Analysis by Selection Strategy</a:t>
            </a:r>
          </a:p>
        </p:txBody>
      </p:sp>
      <p:pic>
        <p:nvPicPr>
          <p:cNvPr id="3" name="Picture 2" descr="overflow_by_config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839305"/>
            <a:ext cx="5638647" cy="1682309"/>
          </a:xfrm>
          <a:prstGeom prst="rect">
            <a:avLst/>
          </a:prstGeom>
        </p:spPr>
      </p:pic>
      <p:pic>
        <p:nvPicPr>
          <p:cNvPr id="4" name="Picture 3" descr="kgkm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7" y="2839540"/>
            <a:ext cx="5638647" cy="16818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A7A"/>
                </a:solidFill>
              </a:defRPr>
            </a:pPr>
            <a:r>
              <a:t>Mean ± min/max range across route constructors; colours discriminate the mandatory selection strategies.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Overflow &amp; kg/km Heatmaps (Policies × Scenarios)</a:t>
            </a:r>
          </a:p>
        </p:txBody>
      </p:sp>
      <p:pic>
        <p:nvPicPr>
          <p:cNvPr id="3" name="Picture 2" descr="policy_scenario_heatmap_over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001" y="1051560"/>
            <a:ext cx="1975284" cy="5257800"/>
          </a:xfrm>
          <a:prstGeom prst="rect">
            <a:avLst/>
          </a:prstGeom>
        </p:spPr>
      </p:pic>
      <p:pic>
        <p:nvPicPr>
          <p:cNvPr id="4" name="Picture 3" descr="policy_scenario_heatmap_kg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8185" y="1051560"/>
            <a:ext cx="1973971" cy="5257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A7A"/>
                </a:solidFill>
              </a:defRPr>
            </a:pPr>
            <a:r>
              <a:t>Rows = full policy configurations (selection + constructor + improver); columns = simulation scenarios.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Per-Scenario Heatmaps (Constructors × Strategy·Improver)</a:t>
            </a:r>
          </a:p>
        </p:txBody>
      </p:sp>
      <p:pic>
        <p:nvPicPr>
          <p:cNvPr id="3" name="Picture 2" descr="scenario_constructo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551" y="1051560"/>
            <a:ext cx="8489713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A7A"/>
                </a:solidFill>
              </a:defRPr>
            </a:pPr>
            <a:r>
              <a:t>One panel per scenario; route constructors on the rows, selection × improver combinations on the columns.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Route Improver Comparison</a:t>
            </a:r>
          </a:p>
        </p:txBody>
      </p:sp>
      <p:pic>
        <p:nvPicPr>
          <p:cNvPr id="3" name="Picture 2" descr="improver_bubbl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53335"/>
            <a:ext cx="11460175" cy="4654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A7A"/>
                </a:solidFill>
              </a:defRPr>
            </a:pPr>
            <a:r>
              <a:t>Each bubble = (improver, scenario) averaged over strategies and constructors — FTSP vs CLS contrasted directly.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Conclusions, 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Conclusions — the selection strategy dominates the overflow/efficiency trade-off: SL variants prevent overflows (SL2 + ACO_HH reached 0 overflows at FFZ-350), LM (CF90) maximises kg/km (~12), LA balances both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Conclusions — BPC and PG-CLNS are the most frequent Pareto-front constructors; ACO-HH is the most robust across scenarios and horizons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Conclusions — patterns are stable from 30 to 90 days; overflow pressure grows with the horizon while kg/km stays consistent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Limitations — single vehicle type and depot per region; waste generation models calibrated on limited historical data; 90-day runs only cover the 30-day Pareto-front policies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Future work — richer acceptance criteria per constructor, neural constructors (attention models) in the same pipeline, multi-vehicle fleets, dynamic re-routing within the day, and CO₂-aware objectives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4577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 — Questions &amp; Answers</a:t>
            </a:r>
          </a:p>
          <a:p>
            <a:pPr algn="ctr">
              <a:defRPr sz="1600">
                <a:solidFill>
                  <a:srgbClr val="C9D6E4"/>
                </a:solidFill>
              </a:defRPr>
            </a:pPr>
            <a:r>
              <a:t>Thank you for your attention!</a:t>
            </a:r>
          </a:p>
          <a:p>
            <a:pPr algn="ctr">
              <a:defRPr sz="1600">
                <a:solidFill>
                  <a:srgbClr val="C9D6E4"/>
                </a:solidFill>
              </a:defRPr>
            </a:pPr>
            <a:r>
              <a:t>Full report: public/simulation_analysis.md · Interactive charts: public/private/simulation/</a:t>
            </a:r>
          </a:p>
          <a:p>
            <a:pPr algn="ctr">
              <a:defRPr sz="1600">
                <a:solidFill>
                  <a:srgbClr val="C9D6E4"/>
                </a:solidFill>
              </a:defRPr>
            </a:pPr>
            <a:r>
              <a:t>Time for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